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Fraunces Medium"/>
      <p:regular r:id="rId18"/>
    </p:embeddedFont>
    <p:embeddedFont>
      <p:font typeface="Fraunces Medium"/>
      <p:regular r:id="rId19"/>
    </p:embeddedFont>
    <p:embeddedFont>
      <p:font typeface="Fraunces Medium"/>
      <p:regular r:id="rId20"/>
    </p:embeddedFont>
    <p:embeddedFont>
      <p:font typeface="Fraunces Medium"/>
      <p:regular r:id="rId21"/>
    </p:embeddedFont>
    <p:embeddedFont>
      <p:font typeface="Epilogue"/>
      <p:regular r:id="rId22"/>
    </p:embeddedFont>
    <p:embeddedFont>
      <p:font typeface="Epilogue"/>
      <p:regular r:id="rId23"/>
    </p:embeddedFont>
    <p:embeddedFont>
      <p:font typeface="Epilogue"/>
      <p:regular r:id="rId24"/>
    </p:embeddedFont>
    <p:embeddedFont>
      <p:font typeface="Epilogue"/>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6.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10.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187065"/>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OpenTelemetry Integration with IBM iSeries (AS/400)</a:t>
            </a:r>
            <a:endParaRPr lang="en-US" sz="3900" dirty="0"/>
          </a:p>
        </p:txBody>
      </p:sp>
      <p:sp>
        <p:nvSpPr>
          <p:cNvPr id="4" name="Text 1"/>
          <p:cNvSpPr/>
          <p:nvPr/>
        </p:nvSpPr>
        <p:spPr>
          <a:xfrm>
            <a:off x="6280190" y="4724876"/>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Modern Transaction Monitoring Framework for Legacy Systems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1999" y="517088"/>
            <a:ext cx="1560790" cy="353139"/>
          </a:xfrm>
          <a:prstGeom prst="roundRect">
            <a:avLst>
              <a:gd name="adj" fmla="val 17890"/>
            </a:avLst>
          </a:prstGeom>
          <a:solidFill>
            <a:srgbClr val="181E34"/>
          </a:solidFill>
          <a:ln/>
        </p:spPr>
      </p:sp>
      <p:sp>
        <p:nvSpPr>
          <p:cNvPr id="3" name="Text 1"/>
          <p:cNvSpPr/>
          <p:nvPr/>
        </p:nvSpPr>
        <p:spPr>
          <a:xfrm>
            <a:off x="864751" y="573405"/>
            <a:ext cx="1335286" cy="240506"/>
          </a:xfrm>
          <a:prstGeom prst="rect">
            <a:avLst/>
          </a:prstGeom>
          <a:noFill/>
          <a:ln/>
        </p:spPr>
        <p:txBody>
          <a:bodyPr wrap="none" lIns="0" tIns="0" rIns="0" bIns="0" rtlCol="0" anchor="t"/>
          <a:lstStyle/>
          <a:p>
            <a:pPr algn="l" indent="0" marL="0">
              <a:lnSpc>
                <a:spcPts val="1850"/>
              </a:lnSpc>
              <a:buNone/>
            </a:pPr>
            <a:r>
              <a:rPr lang="en-US" sz="1150" dirty="0">
                <a:solidFill>
                  <a:srgbClr val="EBECEF"/>
                </a:solidFill>
                <a:latin typeface="Epilogue" pitchFamily="34" charset="0"/>
                <a:ea typeface="Epilogue" pitchFamily="34" charset="-122"/>
                <a:cs typeface="Epilogue" pitchFamily="34" charset="-120"/>
              </a:rPr>
              <a:t>PROJECT OVERVIEW</a:t>
            </a:r>
            <a:endParaRPr lang="en-US" sz="1150" dirty="0"/>
          </a:p>
        </p:txBody>
      </p:sp>
      <p:sp>
        <p:nvSpPr>
          <p:cNvPr id="4" name="Text 2"/>
          <p:cNvSpPr/>
          <p:nvPr/>
        </p:nvSpPr>
        <p:spPr>
          <a:xfrm>
            <a:off x="751999" y="945356"/>
            <a:ext cx="13126402" cy="1175147"/>
          </a:xfrm>
          <a:prstGeom prst="rect">
            <a:avLst/>
          </a:prstGeom>
          <a:noFill/>
          <a:ln/>
        </p:spPr>
        <p:txBody>
          <a:bodyPr wrap="square" lIns="0" tIns="0" rIns="0" bIns="0" rtlCol="0" anchor="t"/>
          <a:lstStyle/>
          <a:p>
            <a:pPr algn="l" indent="0" marL="0">
              <a:lnSpc>
                <a:spcPts val="4600"/>
              </a:lnSpc>
              <a:buNone/>
            </a:pPr>
            <a:r>
              <a:rPr lang="en-US" sz="3700" dirty="0">
                <a:solidFill>
                  <a:srgbClr val="FFFFFF"/>
                </a:solidFill>
                <a:latin typeface="Fraunces Medium" pitchFamily="34" charset="0"/>
                <a:ea typeface="Fraunces Medium" pitchFamily="34" charset="-122"/>
                <a:cs typeface="Fraunces Medium" pitchFamily="34" charset="-120"/>
              </a:rPr>
              <a:t>Bridging Legacy AS/400 Systems with Modern Observability</a:t>
            </a:r>
            <a:endParaRPr lang="en-US" sz="3700" dirty="0"/>
          </a:p>
        </p:txBody>
      </p:sp>
      <p:sp>
        <p:nvSpPr>
          <p:cNvPr id="5" name="Text 3"/>
          <p:cNvSpPr/>
          <p:nvPr/>
        </p:nvSpPr>
        <p:spPr>
          <a:xfrm>
            <a:off x="751999" y="2590443"/>
            <a:ext cx="2820353" cy="352544"/>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Core Objective</a:t>
            </a:r>
            <a:endParaRPr lang="en-US" sz="2200" dirty="0"/>
          </a:p>
        </p:txBody>
      </p:sp>
      <p:sp>
        <p:nvSpPr>
          <p:cNvPr id="6" name="Text 4"/>
          <p:cNvSpPr/>
          <p:nvPr/>
        </p:nvSpPr>
        <p:spPr>
          <a:xfrm>
            <a:off x="751999" y="3130987"/>
            <a:ext cx="7013138" cy="2105263"/>
          </a:xfrm>
          <a:prstGeom prst="rect">
            <a:avLst/>
          </a:prstGeom>
          <a:noFill/>
          <a:ln/>
        </p:spPr>
        <p:txBody>
          <a:bodyPr wrap="square" lIns="0" tIns="0" rIns="0" bIns="0" rtlCol="0" anchor="t"/>
          <a:lstStyle/>
          <a:p>
            <a:pPr algn="l" indent="0" marL="0">
              <a:lnSpc>
                <a:spcPts val="2350"/>
              </a:lnSpc>
              <a:buNone/>
            </a:pPr>
            <a:r>
              <a:rPr lang="en-US" sz="1450" dirty="0">
                <a:solidFill>
                  <a:srgbClr val="EBECEF"/>
                </a:solidFill>
                <a:latin typeface="Epilogue" pitchFamily="34" charset="0"/>
                <a:ea typeface="Epilogue" pitchFamily="34" charset="-122"/>
                <a:cs typeface="Epilogue" pitchFamily="34" charset="-120"/>
              </a:rPr>
              <a:t>This initiative addresses a critical challenge facing enterprises with substantial AS/400 investments: how to integrate decades-old RPG and DB2 for i applications into modern distributed tracing ecosystems without requiring costly application rewrites or system migrations. By implementing OpenTelemetry standards, we enable comprehensive transaction monitoring, distributed tracing, and performance analytics while preserving the reliability and business logic embedded in legacy systems.</a:t>
            </a:r>
            <a:endParaRPr lang="en-US" sz="1450" dirty="0"/>
          </a:p>
        </p:txBody>
      </p:sp>
      <p:sp>
        <p:nvSpPr>
          <p:cNvPr id="7" name="Text 5"/>
          <p:cNvSpPr/>
          <p:nvPr/>
        </p:nvSpPr>
        <p:spPr>
          <a:xfrm>
            <a:off x="751999" y="5405438"/>
            <a:ext cx="7013138" cy="1503759"/>
          </a:xfrm>
          <a:prstGeom prst="rect">
            <a:avLst/>
          </a:prstGeom>
          <a:noFill/>
          <a:ln/>
        </p:spPr>
        <p:txBody>
          <a:bodyPr wrap="square" lIns="0" tIns="0" rIns="0" bIns="0" rtlCol="0" anchor="t"/>
          <a:lstStyle/>
          <a:p>
            <a:pPr algn="l" indent="0" marL="0">
              <a:lnSpc>
                <a:spcPts val="2350"/>
              </a:lnSpc>
              <a:buNone/>
            </a:pPr>
            <a:r>
              <a:rPr lang="en-US" sz="1450" dirty="0">
                <a:solidFill>
                  <a:srgbClr val="EBECEF"/>
                </a:solidFill>
                <a:latin typeface="Epilogue" pitchFamily="34" charset="0"/>
                <a:ea typeface="Epilogue" pitchFamily="34" charset="-122"/>
                <a:cs typeface="Epilogue" pitchFamily="34" charset="-120"/>
              </a:rPr>
              <a:t>The solution bridges the architectural gap between EBCDIC-based physical files, DB2 for i databases, and cloud-native observability platforms, providing visibility into transaction flows that span both legacy and modern infrastructure. This approach protects existing AS/400 investments while unlocking the benefits of contemporary APM and observability tooling.</a:t>
            </a:r>
            <a:endParaRPr lang="en-US" sz="1450" dirty="0"/>
          </a:p>
        </p:txBody>
      </p:sp>
      <p:sp>
        <p:nvSpPr>
          <p:cNvPr id="8" name="Text 6"/>
          <p:cNvSpPr/>
          <p:nvPr/>
        </p:nvSpPr>
        <p:spPr>
          <a:xfrm>
            <a:off x="8231386" y="2590443"/>
            <a:ext cx="2820353" cy="352544"/>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System Context</a:t>
            </a:r>
            <a:endParaRPr lang="en-US" sz="2200" dirty="0"/>
          </a:p>
        </p:txBody>
      </p:sp>
      <p:sp>
        <p:nvSpPr>
          <p:cNvPr id="9" name="Text 7"/>
          <p:cNvSpPr/>
          <p:nvPr/>
        </p:nvSpPr>
        <p:spPr>
          <a:xfrm>
            <a:off x="8231386" y="3248382"/>
            <a:ext cx="2709743" cy="620435"/>
          </a:xfrm>
          <a:prstGeom prst="rect">
            <a:avLst/>
          </a:prstGeom>
          <a:noFill/>
          <a:ln/>
        </p:spPr>
        <p:txBody>
          <a:bodyPr wrap="none" lIns="0" tIns="0" rIns="0" bIns="0" rtlCol="0" anchor="t"/>
          <a:lstStyle/>
          <a:p>
            <a:pPr algn="ctr" indent="0" marL="0">
              <a:lnSpc>
                <a:spcPts val="4850"/>
              </a:lnSpc>
              <a:buNone/>
            </a:pPr>
            <a:r>
              <a:rPr lang="en-US" sz="4850" dirty="0">
                <a:solidFill>
                  <a:srgbClr val="EBECEF"/>
                </a:solidFill>
                <a:latin typeface="Fraunces Medium" pitchFamily="34" charset="0"/>
                <a:ea typeface="Fraunces Medium" pitchFamily="34" charset="-122"/>
                <a:cs typeface="Fraunces Medium" pitchFamily="34" charset="-120"/>
              </a:rPr>
              <a:t>1GB</a:t>
            </a:r>
            <a:endParaRPr lang="en-US" sz="4850" dirty="0"/>
          </a:p>
        </p:txBody>
      </p:sp>
      <p:sp>
        <p:nvSpPr>
          <p:cNvPr id="10" name="Text 8"/>
          <p:cNvSpPr/>
          <p:nvPr/>
        </p:nvSpPr>
        <p:spPr>
          <a:xfrm>
            <a:off x="8411051" y="4103727"/>
            <a:ext cx="2350294" cy="293727"/>
          </a:xfrm>
          <a:prstGeom prst="rect">
            <a:avLst/>
          </a:prstGeom>
          <a:noFill/>
          <a:ln/>
        </p:spPr>
        <p:txBody>
          <a:bodyPr wrap="none" lIns="0" tIns="0" rIns="0" bIns="0" rtlCol="0" anchor="t"/>
          <a:lstStyle/>
          <a:p>
            <a:pPr algn="ctr" indent="0" marL="0">
              <a:lnSpc>
                <a:spcPts val="2300"/>
              </a:lnSpc>
              <a:buNone/>
            </a:pPr>
            <a:r>
              <a:rPr lang="en-US" sz="1850" dirty="0">
                <a:solidFill>
                  <a:srgbClr val="EBECEF"/>
                </a:solidFill>
                <a:latin typeface="Fraunces Medium" pitchFamily="34" charset="0"/>
                <a:ea typeface="Fraunces Medium" pitchFamily="34" charset="-122"/>
                <a:cs typeface="Fraunces Medium" pitchFamily="34" charset="-120"/>
              </a:rPr>
              <a:t>Log Data/Hour</a:t>
            </a:r>
            <a:endParaRPr lang="en-US" sz="1850" dirty="0"/>
          </a:p>
        </p:txBody>
      </p:sp>
      <p:sp>
        <p:nvSpPr>
          <p:cNvPr id="11" name="Text 9"/>
          <p:cNvSpPr/>
          <p:nvPr/>
        </p:nvSpPr>
        <p:spPr>
          <a:xfrm>
            <a:off x="8231386" y="4585454"/>
            <a:ext cx="2709743" cy="601504"/>
          </a:xfrm>
          <a:prstGeom prst="rect">
            <a:avLst/>
          </a:prstGeom>
          <a:noFill/>
          <a:ln/>
        </p:spPr>
        <p:txBody>
          <a:bodyPr wrap="square" lIns="0" tIns="0" rIns="0" bIns="0" rtlCol="0" anchor="t"/>
          <a:lstStyle/>
          <a:p>
            <a:pPr algn="ctr" indent="0" marL="0">
              <a:lnSpc>
                <a:spcPts val="2350"/>
              </a:lnSpc>
              <a:buNone/>
            </a:pPr>
            <a:r>
              <a:rPr lang="en-US" sz="1450" dirty="0">
                <a:solidFill>
                  <a:srgbClr val="EBECEF"/>
                </a:solidFill>
                <a:latin typeface="Epilogue" pitchFamily="34" charset="0"/>
                <a:ea typeface="Epilogue" pitchFamily="34" charset="-122"/>
                <a:cs typeface="Epilogue" pitchFamily="34" charset="-120"/>
              </a:rPr>
              <a:t>Continuous high-volume data ingestion</a:t>
            </a:r>
            <a:endParaRPr lang="en-US" sz="1450" dirty="0"/>
          </a:p>
        </p:txBody>
      </p:sp>
      <p:sp>
        <p:nvSpPr>
          <p:cNvPr id="12" name="Text 10"/>
          <p:cNvSpPr/>
          <p:nvPr/>
        </p:nvSpPr>
        <p:spPr>
          <a:xfrm>
            <a:off x="11176159" y="3248382"/>
            <a:ext cx="2709863" cy="620435"/>
          </a:xfrm>
          <a:prstGeom prst="rect">
            <a:avLst/>
          </a:prstGeom>
          <a:noFill/>
          <a:ln/>
        </p:spPr>
        <p:txBody>
          <a:bodyPr wrap="none" lIns="0" tIns="0" rIns="0" bIns="0" rtlCol="0" anchor="t"/>
          <a:lstStyle/>
          <a:p>
            <a:pPr algn="ctr" indent="0" marL="0">
              <a:lnSpc>
                <a:spcPts val="4850"/>
              </a:lnSpc>
              <a:buNone/>
            </a:pPr>
            <a:r>
              <a:rPr lang="en-US" sz="4850" dirty="0">
                <a:solidFill>
                  <a:srgbClr val="EBECEF"/>
                </a:solidFill>
                <a:latin typeface="Fraunces Medium" pitchFamily="34" charset="0"/>
                <a:ea typeface="Fraunces Medium" pitchFamily="34" charset="-122"/>
                <a:cs typeface="Fraunces Medium" pitchFamily="34" charset="-120"/>
              </a:rPr>
              <a:t>250K-1M</a:t>
            </a:r>
            <a:endParaRPr lang="en-US" sz="4850" dirty="0"/>
          </a:p>
        </p:txBody>
      </p:sp>
      <p:sp>
        <p:nvSpPr>
          <p:cNvPr id="13" name="Text 11"/>
          <p:cNvSpPr/>
          <p:nvPr/>
        </p:nvSpPr>
        <p:spPr>
          <a:xfrm>
            <a:off x="11355943" y="4103727"/>
            <a:ext cx="2350294" cy="293727"/>
          </a:xfrm>
          <a:prstGeom prst="rect">
            <a:avLst/>
          </a:prstGeom>
          <a:noFill/>
          <a:ln/>
        </p:spPr>
        <p:txBody>
          <a:bodyPr wrap="none" lIns="0" tIns="0" rIns="0" bIns="0" rtlCol="0" anchor="t"/>
          <a:lstStyle/>
          <a:p>
            <a:pPr algn="ctr" indent="0" marL="0">
              <a:lnSpc>
                <a:spcPts val="2300"/>
              </a:lnSpc>
              <a:buNone/>
            </a:pPr>
            <a:r>
              <a:rPr lang="en-US" sz="1850" dirty="0">
                <a:solidFill>
                  <a:srgbClr val="EBECEF"/>
                </a:solidFill>
                <a:latin typeface="Fraunces Medium" pitchFamily="34" charset="0"/>
                <a:ea typeface="Fraunces Medium" pitchFamily="34" charset="-122"/>
                <a:cs typeface="Fraunces Medium" pitchFamily="34" charset="-120"/>
              </a:rPr>
              <a:t>Records/Hour</a:t>
            </a:r>
            <a:endParaRPr lang="en-US" sz="1850" dirty="0"/>
          </a:p>
        </p:txBody>
      </p:sp>
      <p:sp>
        <p:nvSpPr>
          <p:cNvPr id="14" name="Text 12"/>
          <p:cNvSpPr/>
          <p:nvPr/>
        </p:nvSpPr>
        <p:spPr>
          <a:xfrm>
            <a:off x="11176159" y="4585454"/>
            <a:ext cx="2709863" cy="601504"/>
          </a:xfrm>
          <a:prstGeom prst="rect">
            <a:avLst/>
          </a:prstGeom>
          <a:noFill/>
          <a:ln/>
        </p:spPr>
        <p:txBody>
          <a:bodyPr wrap="square" lIns="0" tIns="0" rIns="0" bIns="0" rtlCol="0" anchor="t"/>
          <a:lstStyle/>
          <a:p>
            <a:pPr algn="ctr" indent="0" marL="0">
              <a:lnSpc>
                <a:spcPts val="2350"/>
              </a:lnSpc>
              <a:buNone/>
            </a:pPr>
            <a:r>
              <a:rPr lang="en-US" sz="1450" dirty="0">
                <a:solidFill>
                  <a:srgbClr val="EBECEF"/>
                </a:solidFill>
                <a:latin typeface="Epilogue" pitchFamily="34" charset="0"/>
                <a:ea typeface="Epilogue" pitchFamily="34" charset="-122"/>
                <a:cs typeface="Epilogue" pitchFamily="34" charset="-120"/>
              </a:rPr>
              <a:t>Transaction throughput capacity</a:t>
            </a:r>
            <a:endParaRPr lang="en-US" sz="1450" dirty="0"/>
          </a:p>
        </p:txBody>
      </p:sp>
      <p:sp>
        <p:nvSpPr>
          <p:cNvPr id="15" name="Text 13"/>
          <p:cNvSpPr/>
          <p:nvPr/>
        </p:nvSpPr>
        <p:spPr>
          <a:xfrm>
            <a:off x="8231386" y="5398413"/>
            <a:ext cx="2512100" cy="293727"/>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Fraunces Medium" pitchFamily="34" charset="0"/>
                <a:ea typeface="Fraunces Medium" pitchFamily="34" charset="-122"/>
                <a:cs typeface="Fraunces Medium" pitchFamily="34" charset="-120"/>
              </a:rPr>
              <a:t>Critical Data Elements</a:t>
            </a:r>
            <a:endParaRPr lang="en-US" sz="1850" dirty="0"/>
          </a:p>
        </p:txBody>
      </p:sp>
      <p:sp>
        <p:nvSpPr>
          <p:cNvPr id="16" name="Text 14"/>
          <p:cNvSpPr/>
          <p:nvPr/>
        </p:nvSpPr>
        <p:spPr>
          <a:xfrm>
            <a:off x="8231386" y="5880140"/>
            <a:ext cx="5654635" cy="30075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Server ID &amp; Program ID for service mapping</a:t>
            </a:r>
            <a:endParaRPr lang="en-US" sz="1450" dirty="0"/>
          </a:p>
        </p:txBody>
      </p:sp>
      <p:sp>
        <p:nvSpPr>
          <p:cNvPr id="17" name="Text 15"/>
          <p:cNvSpPr/>
          <p:nvPr/>
        </p:nvSpPr>
        <p:spPr>
          <a:xfrm>
            <a:off x="8231386" y="6246614"/>
            <a:ext cx="5654635" cy="30075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Trace ID for distributed transaction correlation</a:t>
            </a:r>
            <a:endParaRPr lang="en-US" sz="1450" dirty="0"/>
          </a:p>
        </p:txBody>
      </p:sp>
      <p:sp>
        <p:nvSpPr>
          <p:cNvPr id="18" name="Text 16"/>
          <p:cNvSpPr/>
          <p:nvPr/>
        </p:nvSpPr>
        <p:spPr>
          <a:xfrm>
            <a:off x="8231386" y="6613088"/>
            <a:ext cx="5654635" cy="30075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Request/Response payloads for debugging</a:t>
            </a:r>
            <a:endParaRPr lang="en-US" sz="1450" dirty="0"/>
          </a:p>
        </p:txBody>
      </p:sp>
      <p:sp>
        <p:nvSpPr>
          <p:cNvPr id="19" name="Text 17"/>
          <p:cNvSpPr/>
          <p:nvPr/>
        </p:nvSpPr>
        <p:spPr>
          <a:xfrm>
            <a:off x="8231386" y="6979563"/>
            <a:ext cx="5654635" cy="30075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Timing data for latency analysis</a:t>
            </a:r>
            <a:endParaRPr lang="en-US" sz="1450" dirty="0"/>
          </a:p>
        </p:txBody>
      </p:sp>
      <p:sp>
        <p:nvSpPr>
          <p:cNvPr id="20" name="Text 18"/>
          <p:cNvSpPr/>
          <p:nvPr/>
        </p:nvSpPr>
        <p:spPr>
          <a:xfrm>
            <a:off x="8231386" y="7346037"/>
            <a:ext cx="5654635" cy="300752"/>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DB2 query metadata for database performance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2430423" y="802958"/>
            <a:ext cx="888325" cy="253841"/>
          </a:xfrm>
          <a:prstGeom prst="roundRect">
            <a:avLst>
              <a:gd name="adj" fmla="val 17890"/>
            </a:avLst>
          </a:prstGeom>
          <a:solidFill>
            <a:srgbClr val="181E34"/>
          </a:solidFill>
          <a:ln/>
        </p:spPr>
      </p:sp>
      <p:sp>
        <p:nvSpPr>
          <p:cNvPr id="3" name="Text 1"/>
          <p:cNvSpPr/>
          <p:nvPr/>
        </p:nvSpPr>
        <p:spPr>
          <a:xfrm>
            <a:off x="2511504" y="843439"/>
            <a:ext cx="726162" cy="172879"/>
          </a:xfrm>
          <a:prstGeom prst="rect">
            <a:avLst/>
          </a:prstGeom>
          <a:noFill/>
          <a:ln/>
        </p:spPr>
        <p:txBody>
          <a:bodyPr wrap="none" lIns="0" tIns="0" rIns="0" bIns="0" rtlCol="0" anchor="t"/>
          <a:lstStyle/>
          <a:p>
            <a:pPr algn="l" indent="0" marL="0">
              <a:lnSpc>
                <a:spcPts val="1350"/>
              </a:lnSpc>
              <a:buNone/>
            </a:pPr>
            <a:r>
              <a:rPr lang="en-US" sz="850" dirty="0">
                <a:solidFill>
                  <a:srgbClr val="EBECEF"/>
                </a:solidFill>
                <a:latin typeface="Epilogue" pitchFamily="34" charset="0"/>
                <a:ea typeface="Epilogue" pitchFamily="34" charset="-122"/>
                <a:cs typeface="Epilogue" pitchFamily="34" charset="-120"/>
              </a:rPr>
              <a:t>ARCHITECTURE</a:t>
            </a:r>
            <a:endParaRPr lang="en-US" sz="850" dirty="0"/>
          </a:p>
        </p:txBody>
      </p:sp>
      <p:sp>
        <p:nvSpPr>
          <p:cNvPr id="4" name="Text 2"/>
          <p:cNvSpPr/>
          <p:nvPr/>
        </p:nvSpPr>
        <p:spPr>
          <a:xfrm>
            <a:off x="2430423" y="1110853"/>
            <a:ext cx="5847517" cy="422315"/>
          </a:xfrm>
          <a:prstGeom prst="rect">
            <a:avLst/>
          </a:prstGeom>
          <a:noFill/>
          <a:ln/>
        </p:spPr>
        <p:txBody>
          <a:bodyPr wrap="none" lIns="0" tIns="0" rIns="0" bIns="0" rtlCol="0" anchor="t"/>
          <a:lstStyle/>
          <a:p>
            <a:pPr algn="l" indent="0" marL="0">
              <a:lnSpc>
                <a:spcPts val="3300"/>
              </a:lnSpc>
              <a:buNone/>
            </a:pPr>
            <a:r>
              <a:rPr lang="en-US" sz="2650" dirty="0">
                <a:solidFill>
                  <a:srgbClr val="FFFFFF"/>
                </a:solidFill>
                <a:latin typeface="Fraunces Medium" pitchFamily="34" charset="0"/>
                <a:ea typeface="Fraunces Medium" pitchFamily="34" charset="-122"/>
                <a:cs typeface="Fraunces Medium" pitchFamily="34" charset="-120"/>
              </a:rPr>
              <a:t>Three-Tier Component Architecture</a:t>
            </a:r>
            <a:endParaRPr lang="en-US" sz="2650" dirty="0"/>
          </a:p>
        </p:txBody>
      </p:sp>
      <p:sp>
        <p:nvSpPr>
          <p:cNvPr id="5" name="Text 3"/>
          <p:cNvSpPr/>
          <p:nvPr/>
        </p:nvSpPr>
        <p:spPr>
          <a:xfrm>
            <a:off x="2430423" y="1735812"/>
            <a:ext cx="9769554" cy="432435"/>
          </a:xfrm>
          <a:prstGeom prst="rect">
            <a:avLst/>
          </a:prstGeom>
          <a:noFill/>
          <a:ln/>
        </p:spPr>
        <p:txBody>
          <a:bodyPr wrap="square" lIns="0" tIns="0" rIns="0" bIns="0" rtlCol="0" anchor="t"/>
          <a:lstStyle/>
          <a:p>
            <a:pPr algn="l" indent="0" marL="0">
              <a:lnSpc>
                <a:spcPts val="1700"/>
              </a:lnSpc>
              <a:buNone/>
            </a:pPr>
            <a:r>
              <a:rPr lang="en-US" sz="1050" dirty="0">
                <a:solidFill>
                  <a:srgbClr val="EBECEF"/>
                </a:solidFill>
                <a:latin typeface="Epilogue" pitchFamily="34" charset="0"/>
                <a:ea typeface="Epilogue" pitchFamily="34" charset="-122"/>
                <a:cs typeface="Epilogue" pitchFamily="34" charset="-120"/>
              </a:rPr>
              <a:t>The integration framework consists of three specialized components working in concert to extract, transform, and transmit AS/400 telemetry data to modern observability backends. Each component is purpose-built to handle specific challenges in the legacy-to-modern data pipeline.</a:t>
            </a:r>
            <a:endParaRPr lang="en-US" sz="1050" dirty="0"/>
          </a:p>
        </p:txBody>
      </p:sp>
      <p:sp>
        <p:nvSpPr>
          <p:cNvPr id="6" name="Shape 4"/>
          <p:cNvSpPr/>
          <p:nvPr/>
        </p:nvSpPr>
        <p:spPr>
          <a:xfrm>
            <a:off x="2430423" y="2320290"/>
            <a:ext cx="3166348" cy="5106353"/>
          </a:xfrm>
          <a:prstGeom prst="roundRect">
            <a:avLst>
              <a:gd name="adj" fmla="val 1793"/>
            </a:avLst>
          </a:prstGeom>
          <a:solidFill>
            <a:srgbClr val="283157"/>
          </a:solidFill>
          <a:ln w="7620">
            <a:solidFill>
              <a:srgbClr val="414A70"/>
            </a:solidFill>
            <a:prstDash val="solid"/>
          </a:ln>
        </p:spPr>
      </p:sp>
      <p:sp>
        <p:nvSpPr>
          <p:cNvPr id="7" name="Shape 5"/>
          <p:cNvSpPr/>
          <p:nvPr/>
        </p:nvSpPr>
        <p:spPr>
          <a:xfrm>
            <a:off x="2573179" y="2463046"/>
            <a:ext cx="405408" cy="405408"/>
          </a:xfrm>
          <a:prstGeom prst="roundRect">
            <a:avLst>
              <a:gd name="adj" fmla="val 22552800"/>
            </a:avLst>
          </a:prstGeom>
          <a:solidFill>
            <a:srgbClr val="8C98CA"/>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84621" y="2574488"/>
            <a:ext cx="182404" cy="182404"/>
          </a:xfrm>
          <a:prstGeom prst="rect">
            <a:avLst/>
          </a:prstGeom>
        </p:spPr>
      </p:pic>
      <p:sp>
        <p:nvSpPr>
          <p:cNvPr id="9" name="Text 6"/>
          <p:cNvSpPr/>
          <p:nvPr/>
        </p:nvSpPr>
        <p:spPr>
          <a:xfrm>
            <a:off x="2573179" y="3003590"/>
            <a:ext cx="2027277" cy="253365"/>
          </a:xfrm>
          <a:prstGeom prst="rect">
            <a:avLst/>
          </a:prstGeom>
          <a:noFill/>
          <a:ln/>
        </p:spPr>
        <p:txBody>
          <a:bodyPr wrap="none" lIns="0" tIns="0" rIns="0" bIns="0" rtlCol="0" anchor="t"/>
          <a:lstStyle/>
          <a:p>
            <a:pPr algn="l" indent="0" marL="0">
              <a:lnSpc>
                <a:spcPts val="1950"/>
              </a:lnSpc>
              <a:buNone/>
            </a:pPr>
            <a:r>
              <a:rPr lang="en-US" sz="1550" dirty="0">
                <a:solidFill>
                  <a:srgbClr val="EBECEF"/>
                </a:solidFill>
                <a:latin typeface="Fraunces Medium" pitchFamily="34" charset="0"/>
                <a:ea typeface="Fraunces Medium" pitchFamily="34" charset="-122"/>
                <a:cs typeface="Fraunces Medium" pitchFamily="34" charset="-120"/>
              </a:rPr>
              <a:t>iSeries-Otel-Bridge</a:t>
            </a:r>
            <a:endParaRPr lang="en-US" sz="1550" dirty="0"/>
          </a:p>
        </p:txBody>
      </p:sp>
      <p:sp>
        <p:nvSpPr>
          <p:cNvPr id="10" name="Text 7"/>
          <p:cNvSpPr/>
          <p:nvPr/>
        </p:nvSpPr>
        <p:spPr>
          <a:xfrm>
            <a:off x="2573179" y="3338036"/>
            <a:ext cx="2880836" cy="1513522"/>
          </a:xfrm>
          <a:prstGeom prst="rect">
            <a:avLst/>
          </a:prstGeom>
          <a:noFill/>
          <a:ln/>
        </p:spPr>
        <p:txBody>
          <a:bodyPr wrap="square" lIns="0" tIns="0" rIns="0" bIns="0" rtlCol="0" anchor="t"/>
          <a:lstStyle/>
          <a:p>
            <a:pPr algn="l" indent="0" marL="0">
              <a:lnSpc>
                <a:spcPts val="1700"/>
              </a:lnSpc>
              <a:buNone/>
            </a:pPr>
            <a:r>
              <a:rPr lang="en-US" sz="1050" b="1" dirty="0">
                <a:solidFill>
                  <a:srgbClr val="EBECEF"/>
                </a:solidFill>
                <a:latin typeface="Epilogue" pitchFamily="34" charset="0"/>
                <a:ea typeface="Epilogue" pitchFamily="34" charset="-122"/>
                <a:cs typeface="Epilogue" pitchFamily="34" charset="-120"/>
              </a:rPr>
              <a:t>Java-based transformation engine</a:t>
            </a:r>
            <a:pPr algn="l" indent="0" marL="0">
              <a:lnSpc>
                <a:spcPts val="1700"/>
              </a:lnSpc>
              <a:buNone/>
            </a:pPr>
            <a:r>
              <a:rPr lang="en-US" sz="1050" dirty="0">
                <a:solidFill>
                  <a:srgbClr val="EBECEF"/>
                </a:solidFill>
                <a:latin typeface="Epilogue" pitchFamily="34" charset="0"/>
                <a:ea typeface="Epilogue" pitchFamily="34" charset="-122"/>
                <a:cs typeface="Epilogue" pitchFamily="34" charset="-120"/>
              </a:rPr>
              <a:t> built on IBM Toolbox for Java (JT400), providing native access to AS/400 resources. This component handles the complex data conversion from EBCDIC encodings and proprietary AS/400 formats into OpenTelemetry Protocol (OTLP) structures.</a:t>
            </a:r>
            <a:endParaRPr lang="en-US" sz="1050" dirty="0"/>
          </a:p>
        </p:txBody>
      </p:sp>
      <p:sp>
        <p:nvSpPr>
          <p:cNvPr id="11" name="Text 8"/>
          <p:cNvSpPr/>
          <p:nvPr/>
        </p:nvSpPr>
        <p:spPr>
          <a:xfrm>
            <a:off x="2573179" y="4932640"/>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JT400 toolkit integration for file and database access</a:t>
            </a:r>
            <a:endParaRPr lang="en-US" sz="1050" dirty="0"/>
          </a:p>
        </p:txBody>
      </p:sp>
      <p:sp>
        <p:nvSpPr>
          <p:cNvPr id="12" name="Text 9"/>
          <p:cNvSpPr/>
          <p:nvPr/>
        </p:nvSpPr>
        <p:spPr>
          <a:xfrm>
            <a:off x="2573179" y="5412343"/>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EBCDIC to UTF-8 character set conversion</a:t>
            </a:r>
            <a:endParaRPr lang="en-US" sz="1050" dirty="0"/>
          </a:p>
        </p:txBody>
      </p:sp>
      <p:sp>
        <p:nvSpPr>
          <p:cNvPr id="13" name="Text 10"/>
          <p:cNvSpPr/>
          <p:nvPr/>
        </p:nvSpPr>
        <p:spPr>
          <a:xfrm>
            <a:off x="2573179" y="5892046"/>
            <a:ext cx="2880836" cy="216218"/>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OTLP LogRecord and Span generation</a:t>
            </a:r>
            <a:endParaRPr lang="en-US" sz="1050" dirty="0"/>
          </a:p>
        </p:txBody>
      </p:sp>
      <p:sp>
        <p:nvSpPr>
          <p:cNvPr id="14" name="Text 11"/>
          <p:cNvSpPr/>
          <p:nvPr/>
        </p:nvSpPr>
        <p:spPr>
          <a:xfrm>
            <a:off x="2573179" y="6155531"/>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Batch processing with configurable chunk sizes</a:t>
            </a:r>
            <a:endParaRPr lang="en-US" sz="1050" dirty="0"/>
          </a:p>
        </p:txBody>
      </p:sp>
      <p:sp>
        <p:nvSpPr>
          <p:cNvPr id="15" name="Text 12"/>
          <p:cNvSpPr/>
          <p:nvPr/>
        </p:nvSpPr>
        <p:spPr>
          <a:xfrm>
            <a:off x="2573179" y="6635234"/>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Checkpointing for exactly-once delivery semantics</a:t>
            </a:r>
            <a:endParaRPr lang="en-US" sz="1050" dirty="0"/>
          </a:p>
        </p:txBody>
      </p:sp>
      <p:sp>
        <p:nvSpPr>
          <p:cNvPr id="16" name="Shape 13"/>
          <p:cNvSpPr/>
          <p:nvPr/>
        </p:nvSpPr>
        <p:spPr>
          <a:xfrm>
            <a:off x="5731907" y="2320290"/>
            <a:ext cx="3166467" cy="5106353"/>
          </a:xfrm>
          <a:prstGeom prst="roundRect">
            <a:avLst>
              <a:gd name="adj" fmla="val 1793"/>
            </a:avLst>
          </a:prstGeom>
          <a:solidFill>
            <a:srgbClr val="283157"/>
          </a:solidFill>
          <a:ln w="7620">
            <a:solidFill>
              <a:srgbClr val="414A70"/>
            </a:solidFill>
            <a:prstDash val="solid"/>
          </a:ln>
        </p:spPr>
      </p:sp>
      <p:sp>
        <p:nvSpPr>
          <p:cNvPr id="17" name="Shape 14"/>
          <p:cNvSpPr/>
          <p:nvPr/>
        </p:nvSpPr>
        <p:spPr>
          <a:xfrm>
            <a:off x="5874663" y="2463046"/>
            <a:ext cx="405408" cy="405408"/>
          </a:xfrm>
          <a:prstGeom prst="roundRect">
            <a:avLst>
              <a:gd name="adj" fmla="val 22552800"/>
            </a:avLst>
          </a:prstGeom>
          <a:solidFill>
            <a:srgbClr val="8C98CA"/>
          </a:solidFill>
          <a:ln/>
        </p:spPr>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86105" y="2574488"/>
            <a:ext cx="182404" cy="182404"/>
          </a:xfrm>
          <a:prstGeom prst="rect">
            <a:avLst/>
          </a:prstGeom>
        </p:spPr>
      </p:pic>
      <p:sp>
        <p:nvSpPr>
          <p:cNvPr id="19" name="Text 15"/>
          <p:cNvSpPr/>
          <p:nvPr/>
        </p:nvSpPr>
        <p:spPr>
          <a:xfrm>
            <a:off x="5874663" y="3003590"/>
            <a:ext cx="2530316" cy="253365"/>
          </a:xfrm>
          <a:prstGeom prst="rect">
            <a:avLst/>
          </a:prstGeom>
          <a:noFill/>
          <a:ln/>
        </p:spPr>
        <p:txBody>
          <a:bodyPr wrap="none" lIns="0" tIns="0" rIns="0" bIns="0" rtlCol="0" anchor="t"/>
          <a:lstStyle/>
          <a:p>
            <a:pPr algn="l" indent="0" marL="0">
              <a:lnSpc>
                <a:spcPts val="1950"/>
              </a:lnSpc>
              <a:buNone/>
            </a:pPr>
            <a:r>
              <a:rPr lang="en-US" sz="1550" dirty="0">
                <a:solidFill>
                  <a:srgbClr val="EBECEF"/>
                </a:solidFill>
                <a:latin typeface="Fraunces Medium" pitchFamily="34" charset="0"/>
                <a:ea typeface="Fraunces Medium" pitchFamily="34" charset="-122"/>
                <a:cs typeface="Fraunces Medium" pitchFamily="34" charset="-120"/>
              </a:rPr>
              <a:t>AS/400 Daemon Program</a:t>
            </a:r>
            <a:endParaRPr lang="en-US" sz="1550" dirty="0"/>
          </a:p>
        </p:txBody>
      </p:sp>
      <p:sp>
        <p:nvSpPr>
          <p:cNvPr id="20" name="Text 16"/>
          <p:cNvSpPr/>
          <p:nvPr/>
        </p:nvSpPr>
        <p:spPr>
          <a:xfrm>
            <a:off x="5874663" y="3338036"/>
            <a:ext cx="2880955" cy="1297305"/>
          </a:xfrm>
          <a:prstGeom prst="rect">
            <a:avLst/>
          </a:prstGeom>
          <a:noFill/>
          <a:ln/>
        </p:spPr>
        <p:txBody>
          <a:bodyPr wrap="square" lIns="0" tIns="0" rIns="0" bIns="0" rtlCol="0" anchor="t"/>
          <a:lstStyle/>
          <a:p>
            <a:pPr algn="l" indent="0" marL="0">
              <a:lnSpc>
                <a:spcPts val="1700"/>
              </a:lnSpc>
              <a:buNone/>
            </a:pPr>
            <a:r>
              <a:rPr lang="en-US" sz="1050" b="1" dirty="0">
                <a:solidFill>
                  <a:srgbClr val="EBECEF"/>
                </a:solidFill>
                <a:latin typeface="Epilogue" pitchFamily="34" charset="0"/>
                <a:ea typeface="Epilogue" pitchFamily="34" charset="-122"/>
                <a:cs typeface="Epilogue" pitchFamily="34" charset="-120"/>
              </a:rPr>
              <a:t>Native RPG/CL scheduled job</a:t>
            </a:r>
            <a:pPr algn="l" indent="0" marL="0">
              <a:lnSpc>
                <a:spcPts val="1700"/>
              </a:lnSpc>
              <a:buNone/>
            </a:pPr>
            <a:r>
              <a:rPr lang="en-US" sz="1050" dirty="0">
                <a:solidFill>
                  <a:srgbClr val="EBECEF"/>
                </a:solidFill>
                <a:latin typeface="Epilogue" pitchFamily="34" charset="0"/>
                <a:ea typeface="Epilogue" pitchFamily="34" charset="-122"/>
                <a:cs typeface="Epilogue" pitchFamily="34" charset="-120"/>
              </a:rPr>
              <a:t> running on the iSeries platform, responsible for collecting transaction logs from physical files and DB2 for i tables. Operates on configurable intervals to balance freshness with system load.</a:t>
            </a:r>
            <a:endParaRPr lang="en-US" sz="1050" dirty="0"/>
          </a:p>
        </p:txBody>
      </p:sp>
      <p:sp>
        <p:nvSpPr>
          <p:cNvPr id="21" name="Text 17"/>
          <p:cNvSpPr/>
          <p:nvPr/>
        </p:nvSpPr>
        <p:spPr>
          <a:xfrm>
            <a:off x="5874663" y="4716423"/>
            <a:ext cx="2880955"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Scheduled log collection via job scheduler</a:t>
            </a:r>
            <a:endParaRPr lang="en-US" sz="1050" dirty="0"/>
          </a:p>
        </p:txBody>
      </p:sp>
      <p:sp>
        <p:nvSpPr>
          <p:cNvPr id="22" name="Text 18"/>
          <p:cNvSpPr/>
          <p:nvPr/>
        </p:nvSpPr>
        <p:spPr>
          <a:xfrm>
            <a:off x="5874663" y="5196126"/>
            <a:ext cx="2880955" cy="216218"/>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Physical file and DB2 database polling</a:t>
            </a:r>
            <a:endParaRPr lang="en-US" sz="1050" dirty="0"/>
          </a:p>
        </p:txBody>
      </p:sp>
      <p:sp>
        <p:nvSpPr>
          <p:cNvPr id="23" name="Text 19"/>
          <p:cNvSpPr/>
          <p:nvPr/>
        </p:nvSpPr>
        <p:spPr>
          <a:xfrm>
            <a:off x="5874663" y="5459611"/>
            <a:ext cx="2880955"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Incremental extraction with cursor management</a:t>
            </a:r>
            <a:endParaRPr lang="en-US" sz="1050" dirty="0"/>
          </a:p>
        </p:txBody>
      </p:sp>
      <p:sp>
        <p:nvSpPr>
          <p:cNvPr id="24" name="Text 20"/>
          <p:cNvSpPr/>
          <p:nvPr/>
        </p:nvSpPr>
        <p:spPr>
          <a:xfrm>
            <a:off x="5874663" y="5939314"/>
            <a:ext cx="2880955" cy="216218"/>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Batch aggregation and compression</a:t>
            </a:r>
            <a:endParaRPr lang="en-US" sz="1050" dirty="0"/>
          </a:p>
        </p:txBody>
      </p:sp>
      <p:sp>
        <p:nvSpPr>
          <p:cNvPr id="25" name="Text 21"/>
          <p:cNvSpPr/>
          <p:nvPr/>
        </p:nvSpPr>
        <p:spPr>
          <a:xfrm>
            <a:off x="5874663" y="6202799"/>
            <a:ext cx="2880955"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Secure AWS S3 upload via pre-signed URLs</a:t>
            </a:r>
            <a:endParaRPr lang="en-US" sz="1050" dirty="0"/>
          </a:p>
        </p:txBody>
      </p:sp>
      <p:sp>
        <p:nvSpPr>
          <p:cNvPr id="26" name="Shape 22"/>
          <p:cNvSpPr/>
          <p:nvPr/>
        </p:nvSpPr>
        <p:spPr>
          <a:xfrm>
            <a:off x="9033510" y="2320290"/>
            <a:ext cx="3166348" cy="5106353"/>
          </a:xfrm>
          <a:prstGeom prst="roundRect">
            <a:avLst>
              <a:gd name="adj" fmla="val 1793"/>
            </a:avLst>
          </a:prstGeom>
          <a:solidFill>
            <a:srgbClr val="283157"/>
          </a:solidFill>
          <a:ln w="7620">
            <a:solidFill>
              <a:srgbClr val="414A70"/>
            </a:solidFill>
            <a:prstDash val="solid"/>
          </a:ln>
        </p:spPr>
      </p:sp>
      <p:sp>
        <p:nvSpPr>
          <p:cNvPr id="27" name="Shape 23"/>
          <p:cNvSpPr/>
          <p:nvPr/>
        </p:nvSpPr>
        <p:spPr>
          <a:xfrm>
            <a:off x="9176266" y="2463046"/>
            <a:ext cx="405408" cy="405408"/>
          </a:xfrm>
          <a:prstGeom prst="roundRect">
            <a:avLst>
              <a:gd name="adj" fmla="val 22552800"/>
            </a:avLst>
          </a:prstGeom>
          <a:solidFill>
            <a:srgbClr val="8C98CA"/>
          </a:solidFill>
          <a:ln/>
        </p:spPr>
      </p:sp>
      <p:pic>
        <p:nvPicPr>
          <p:cNvPr id="2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87708" y="2574488"/>
            <a:ext cx="182404" cy="182404"/>
          </a:xfrm>
          <a:prstGeom prst="rect">
            <a:avLst/>
          </a:prstGeom>
        </p:spPr>
      </p:pic>
      <p:sp>
        <p:nvSpPr>
          <p:cNvPr id="29" name="Text 24"/>
          <p:cNvSpPr/>
          <p:nvPr/>
        </p:nvSpPr>
        <p:spPr>
          <a:xfrm>
            <a:off x="9176266" y="3003590"/>
            <a:ext cx="2387679" cy="253365"/>
          </a:xfrm>
          <a:prstGeom prst="rect">
            <a:avLst/>
          </a:prstGeom>
          <a:noFill/>
          <a:ln/>
        </p:spPr>
        <p:txBody>
          <a:bodyPr wrap="none" lIns="0" tIns="0" rIns="0" bIns="0" rtlCol="0" anchor="t"/>
          <a:lstStyle/>
          <a:p>
            <a:pPr algn="l" indent="0" marL="0">
              <a:lnSpc>
                <a:spcPts val="1950"/>
              </a:lnSpc>
              <a:buNone/>
            </a:pPr>
            <a:r>
              <a:rPr lang="en-US" sz="1550" dirty="0">
                <a:solidFill>
                  <a:srgbClr val="EBECEF"/>
                </a:solidFill>
                <a:latin typeface="Fraunces Medium" pitchFamily="34" charset="0"/>
                <a:ea typeface="Fraunces Medium" pitchFamily="34" charset="-122"/>
                <a:cs typeface="Fraunces Medium" pitchFamily="34" charset="-120"/>
              </a:rPr>
              <a:t>OpenTelemetry Backend</a:t>
            </a:r>
            <a:endParaRPr lang="en-US" sz="1550" dirty="0"/>
          </a:p>
        </p:txBody>
      </p:sp>
      <p:sp>
        <p:nvSpPr>
          <p:cNvPr id="30" name="Text 25"/>
          <p:cNvSpPr/>
          <p:nvPr/>
        </p:nvSpPr>
        <p:spPr>
          <a:xfrm>
            <a:off x="9176266" y="3338036"/>
            <a:ext cx="2880836" cy="1513522"/>
          </a:xfrm>
          <a:prstGeom prst="rect">
            <a:avLst/>
          </a:prstGeom>
          <a:noFill/>
          <a:ln/>
        </p:spPr>
        <p:txBody>
          <a:bodyPr wrap="square" lIns="0" tIns="0" rIns="0" bIns="0" rtlCol="0" anchor="t"/>
          <a:lstStyle/>
          <a:p>
            <a:pPr algn="l" indent="0" marL="0">
              <a:lnSpc>
                <a:spcPts val="1700"/>
              </a:lnSpc>
              <a:buNone/>
            </a:pPr>
            <a:r>
              <a:rPr lang="en-US" sz="1050" b="1" dirty="0">
                <a:solidFill>
                  <a:srgbClr val="EBECEF"/>
                </a:solidFill>
                <a:latin typeface="Epilogue" pitchFamily="34" charset="0"/>
                <a:ea typeface="Epilogue" pitchFamily="34" charset="-122"/>
                <a:cs typeface="Epilogue" pitchFamily="34" charset="-120"/>
              </a:rPr>
              <a:t>Cloud-native telemetry storage and analysis platform</a:t>
            </a:r>
            <a:pPr algn="l" indent="0" marL="0">
              <a:lnSpc>
                <a:spcPts val="1700"/>
              </a:lnSpc>
              <a:buNone/>
            </a:pPr>
            <a:r>
              <a:rPr lang="en-US" sz="1050" dirty="0">
                <a:solidFill>
                  <a:srgbClr val="EBECEF"/>
                </a:solidFill>
                <a:latin typeface="Epilogue" pitchFamily="34" charset="0"/>
                <a:ea typeface="Epilogue" pitchFamily="34" charset="-122"/>
                <a:cs typeface="Epilogue" pitchFamily="34" charset="-120"/>
              </a:rPr>
              <a:t> with dual deployment options. Primary recommendation is AWS X-Ray for organizations with existing AWS infrastructure; Grafana Tempo provides an open-source alternative with S3 compatibility.</a:t>
            </a:r>
            <a:endParaRPr lang="en-US" sz="1050" dirty="0"/>
          </a:p>
        </p:txBody>
      </p:sp>
      <p:sp>
        <p:nvSpPr>
          <p:cNvPr id="31" name="Text 26"/>
          <p:cNvSpPr/>
          <p:nvPr/>
        </p:nvSpPr>
        <p:spPr>
          <a:xfrm>
            <a:off x="9176266" y="4932640"/>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b="1" dirty="0">
                <a:solidFill>
                  <a:srgbClr val="EBECEF"/>
                </a:solidFill>
                <a:latin typeface="Epilogue" pitchFamily="34" charset="0"/>
                <a:ea typeface="Epilogue" pitchFamily="34" charset="-122"/>
                <a:cs typeface="Epilogue" pitchFamily="34" charset="-120"/>
              </a:rPr>
              <a:t>AWS X-Ray:</a:t>
            </a:r>
            <a:pPr algn="l" indent="0" marL="0">
              <a:lnSpc>
                <a:spcPts val="1700"/>
              </a:lnSpc>
              <a:buNone/>
            </a:pPr>
            <a:r>
              <a:rPr lang="en-US" sz="1050" dirty="0">
                <a:solidFill>
                  <a:srgbClr val="EBECEF"/>
                </a:solidFill>
                <a:latin typeface="Epilogue" pitchFamily="34" charset="0"/>
                <a:ea typeface="Epilogue" pitchFamily="34" charset="-122"/>
                <a:cs typeface="Epilogue" pitchFamily="34" charset="-120"/>
              </a:rPr>
              <a:t> Native integration, service maps, auto-instrumentation</a:t>
            </a:r>
            <a:endParaRPr lang="en-US" sz="1050" dirty="0"/>
          </a:p>
        </p:txBody>
      </p:sp>
      <p:sp>
        <p:nvSpPr>
          <p:cNvPr id="32" name="Text 27"/>
          <p:cNvSpPr/>
          <p:nvPr/>
        </p:nvSpPr>
        <p:spPr>
          <a:xfrm>
            <a:off x="9176266" y="5412343"/>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b="1" dirty="0">
                <a:solidFill>
                  <a:srgbClr val="EBECEF"/>
                </a:solidFill>
                <a:latin typeface="Epilogue" pitchFamily="34" charset="0"/>
                <a:ea typeface="Epilogue" pitchFamily="34" charset="-122"/>
                <a:cs typeface="Epilogue" pitchFamily="34" charset="-120"/>
              </a:rPr>
              <a:t>Grafana Tempo:</a:t>
            </a:r>
            <a:pPr algn="l" indent="0" marL="0">
              <a:lnSpc>
                <a:spcPts val="1700"/>
              </a:lnSpc>
              <a:buNone/>
            </a:pPr>
            <a:r>
              <a:rPr lang="en-US" sz="1050" dirty="0">
                <a:solidFill>
                  <a:srgbClr val="EBECEF"/>
                </a:solidFill>
                <a:latin typeface="Epilogue" pitchFamily="34" charset="0"/>
                <a:ea typeface="Epilogue" pitchFamily="34" charset="-122"/>
                <a:cs typeface="Epilogue" pitchFamily="34" charset="-120"/>
              </a:rPr>
              <a:t> Open-source, high-volume capacity, Parquet storage</a:t>
            </a:r>
            <a:endParaRPr lang="en-US" sz="1050" dirty="0"/>
          </a:p>
        </p:txBody>
      </p:sp>
      <p:sp>
        <p:nvSpPr>
          <p:cNvPr id="33" name="Text 28"/>
          <p:cNvSpPr/>
          <p:nvPr/>
        </p:nvSpPr>
        <p:spPr>
          <a:xfrm>
            <a:off x="9176266" y="5892046"/>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OTLP/gRPC ingestion endpoints (port 4317)</a:t>
            </a:r>
            <a:endParaRPr lang="en-US" sz="1050" dirty="0"/>
          </a:p>
        </p:txBody>
      </p:sp>
      <p:sp>
        <p:nvSpPr>
          <p:cNvPr id="34" name="Text 29"/>
          <p:cNvSpPr/>
          <p:nvPr/>
        </p:nvSpPr>
        <p:spPr>
          <a:xfrm>
            <a:off x="9176266" y="6371749"/>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S3-based long-term storage with lifecycle policies</a:t>
            </a:r>
            <a:endParaRPr lang="en-US" sz="1050" dirty="0"/>
          </a:p>
        </p:txBody>
      </p:sp>
      <p:sp>
        <p:nvSpPr>
          <p:cNvPr id="35" name="Text 30"/>
          <p:cNvSpPr/>
          <p:nvPr/>
        </p:nvSpPr>
        <p:spPr>
          <a:xfrm>
            <a:off x="9176266" y="6851452"/>
            <a:ext cx="2880836" cy="432435"/>
          </a:xfrm>
          <a:prstGeom prst="rect">
            <a:avLst/>
          </a:prstGeom>
          <a:noFill/>
          <a:ln/>
        </p:spPr>
        <p:txBody>
          <a:bodyPr wrap="square" lIns="0" tIns="0" rIns="0" bIns="0" rtlCol="0" anchor="t"/>
          <a:lstStyle/>
          <a:p>
            <a:pPr algn="l" marL="342900" indent="-342900">
              <a:lnSpc>
                <a:spcPts val="1700"/>
              </a:lnSpc>
              <a:buSzPct val="100000"/>
              <a:buChar char="•"/>
            </a:pPr>
            <a:r>
              <a:rPr lang="en-US" sz="1050" dirty="0">
                <a:solidFill>
                  <a:srgbClr val="EBECEF"/>
                </a:solidFill>
                <a:latin typeface="Epilogue" pitchFamily="34" charset="0"/>
                <a:ea typeface="Epilogue" pitchFamily="34" charset="-122"/>
                <a:cs typeface="Epilogue" pitchFamily="34" charset="-120"/>
              </a:rPr>
              <a:t>Integration with CloudWatch and Grafana for visualization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878931" y="337780"/>
            <a:ext cx="942856" cy="230743"/>
          </a:xfrm>
          <a:prstGeom prst="roundRect">
            <a:avLst>
              <a:gd name="adj" fmla="val 17874"/>
            </a:avLst>
          </a:prstGeom>
          <a:solidFill>
            <a:srgbClr val="181E34"/>
          </a:solidFill>
          <a:ln/>
        </p:spPr>
      </p:sp>
      <p:sp>
        <p:nvSpPr>
          <p:cNvPr id="3" name="Text 1"/>
          <p:cNvSpPr/>
          <p:nvPr/>
        </p:nvSpPr>
        <p:spPr>
          <a:xfrm>
            <a:off x="2952512" y="374571"/>
            <a:ext cx="795695" cy="157163"/>
          </a:xfrm>
          <a:prstGeom prst="rect">
            <a:avLst/>
          </a:prstGeom>
          <a:noFill/>
          <a:ln/>
        </p:spPr>
        <p:txBody>
          <a:bodyPr wrap="none" lIns="0" tIns="0" rIns="0" bIns="0" rtlCol="0" anchor="t"/>
          <a:lstStyle/>
          <a:p>
            <a:pPr algn="l" indent="0" marL="0">
              <a:lnSpc>
                <a:spcPts val="1200"/>
              </a:lnSpc>
              <a:buNone/>
            </a:pPr>
            <a:r>
              <a:rPr lang="en-US" sz="750" dirty="0">
                <a:solidFill>
                  <a:srgbClr val="EBECEF"/>
                </a:solidFill>
                <a:latin typeface="Epilogue" pitchFamily="34" charset="0"/>
                <a:ea typeface="Epilogue" pitchFamily="34" charset="-122"/>
                <a:cs typeface="Epilogue" pitchFamily="34" charset="-120"/>
              </a:rPr>
              <a:t>TECHNICAL STACK</a:t>
            </a:r>
            <a:endParaRPr lang="en-US" sz="750" dirty="0"/>
          </a:p>
        </p:txBody>
      </p:sp>
      <p:sp>
        <p:nvSpPr>
          <p:cNvPr id="4" name="Text 2"/>
          <p:cNvSpPr/>
          <p:nvPr/>
        </p:nvSpPr>
        <p:spPr>
          <a:xfrm>
            <a:off x="2878931" y="617577"/>
            <a:ext cx="4891564" cy="383500"/>
          </a:xfrm>
          <a:prstGeom prst="rect">
            <a:avLst/>
          </a:prstGeom>
          <a:noFill/>
          <a:ln/>
        </p:spPr>
        <p:txBody>
          <a:bodyPr wrap="none" lIns="0" tIns="0" rIns="0" bIns="0" rtlCol="0" anchor="t"/>
          <a:lstStyle/>
          <a:p>
            <a:pPr algn="l" indent="0" marL="0">
              <a:lnSpc>
                <a:spcPts val="3000"/>
              </a:lnSpc>
              <a:buNone/>
            </a:pPr>
            <a:r>
              <a:rPr lang="en-US" sz="2400" dirty="0">
                <a:solidFill>
                  <a:srgbClr val="FFFFFF"/>
                </a:solidFill>
                <a:latin typeface="Fraunces Medium" pitchFamily="34" charset="0"/>
                <a:ea typeface="Fraunces Medium" pitchFamily="34" charset="-122"/>
                <a:cs typeface="Fraunces Medium" pitchFamily="34" charset="-120"/>
              </a:rPr>
              <a:t>Technology Selection &amp; Rationale</a:t>
            </a:r>
            <a:endParaRPr lang="en-US" sz="2400" dirty="0"/>
          </a:p>
        </p:txBody>
      </p:sp>
      <p:sp>
        <p:nvSpPr>
          <p:cNvPr id="5" name="Text 3"/>
          <p:cNvSpPr/>
          <p:nvPr/>
        </p:nvSpPr>
        <p:spPr>
          <a:xfrm>
            <a:off x="2878931" y="1295519"/>
            <a:ext cx="4286607" cy="981670"/>
          </a:xfrm>
          <a:prstGeom prst="rect">
            <a:avLst/>
          </a:prstGeom>
          <a:noFill/>
          <a:ln/>
        </p:spPr>
        <p:txBody>
          <a:bodyPr wrap="square" lIns="0" tIns="0" rIns="0" bIns="0" rtlCol="0" anchor="t"/>
          <a:lstStyle/>
          <a:p>
            <a:pPr algn="l" indent="0" marL="0">
              <a:lnSpc>
                <a:spcPts val="1500"/>
              </a:lnSpc>
              <a:buNone/>
            </a:pPr>
            <a:r>
              <a:rPr lang="en-US" sz="950" dirty="0">
                <a:solidFill>
                  <a:srgbClr val="EBECEF"/>
                </a:solidFill>
                <a:latin typeface="Epilogue" pitchFamily="34" charset="0"/>
                <a:ea typeface="Epilogue" pitchFamily="34" charset="-122"/>
                <a:cs typeface="Epilogue" pitchFamily="34" charset="-120"/>
              </a:rPr>
              <a:t>The technical stack is carefully selected to balance AS/400 compatibility, modern observability standards, cloud-native scalability, and cost efficiency. Each component was evaluated against criteria including protocol efficiency, AS/400 integration maturity, storage economics, and operational complexity.</a:t>
            </a:r>
            <a:endParaRPr lang="en-US" sz="950" dirty="0"/>
          </a:p>
        </p:txBody>
      </p:sp>
      <p:pic>
        <p:nvPicPr>
          <p:cNvPr id="6" name="Image 0" descr="preencoded.png">    </p:cNvPr>
          <p:cNvPicPr>
            <a:picLocks noChangeAspect="1"/>
          </p:cNvPicPr>
          <p:nvPr/>
        </p:nvPicPr>
        <p:blipFill>
          <a:blip r:embed="rId1"/>
          <a:stretch>
            <a:fillRect/>
          </a:stretch>
        </p:blipFill>
        <p:spPr>
          <a:xfrm>
            <a:off x="2878931" y="2415183"/>
            <a:ext cx="4286607" cy="4286607"/>
          </a:xfrm>
          <a:prstGeom prst="rect">
            <a:avLst/>
          </a:prstGeom>
        </p:spPr>
      </p:pic>
      <p:sp>
        <p:nvSpPr>
          <p:cNvPr id="7" name="Shape 4"/>
          <p:cNvSpPr/>
          <p:nvPr/>
        </p:nvSpPr>
        <p:spPr>
          <a:xfrm>
            <a:off x="7472482" y="1323142"/>
            <a:ext cx="4286607" cy="4584263"/>
          </a:xfrm>
          <a:prstGeom prst="roundRect">
            <a:avLst>
              <a:gd name="adj" fmla="val 1203"/>
            </a:avLst>
          </a:prstGeom>
          <a:noFill/>
          <a:ln w="7620">
            <a:solidFill>
              <a:srgbClr val="FFFFFF">
                <a:alpha val="24000"/>
              </a:srgbClr>
            </a:solidFill>
            <a:prstDash val="solid"/>
          </a:ln>
        </p:spPr>
      </p:sp>
      <p:sp>
        <p:nvSpPr>
          <p:cNvPr id="8" name="Shape 5"/>
          <p:cNvSpPr/>
          <p:nvPr/>
        </p:nvSpPr>
        <p:spPr>
          <a:xfrm>
            <a:off x="7480102" y="1330762"/>
            <a:ext cx="4271367" cy="358735"/>
          </a:xfrm>
          <a:prstGeom prst="rect">
            <a:avLst/>
          </a:prstGeom>
          <a:solidFill>
            <a:srgbClr val="FFFFFF">
              <a:alpha val="4000"/>
            </a:srgbClr>
          </a:solidFill>
          <a:ln/>
        </p:spPr>
      </p:sp>
      <p:sp>
        <p:nvSpPr>
          <p:cNvPr id="9" name="Text 6"/>
          <p:cNvSpPr/>
          <p:nvPr/>
        </p:nvSpPr>
        <p:spPr>
          <a:xfrm>
            <a:off x="7602736" y="1411962"/>
            <a:ext cx="1459468" cy="196334"/>
          </a:xfrm>
          <a:prstGeom prst="rect">
            <a:avLst/>
          </a:prstGeom>
          <a:noFill/>
          <a:ln/>
        </p:spPr>
        <p:txBody>
          <a:bodyPr wrap="none" lIns="0" tIns="0" rIns="0" bIns="0" rtlCol="0" anchor="t"/>
          <a:lstStyle/>
          <a:p>
            <a:pPr algn="l" indent="0" marL="0">
              <a:lnSpc>
                <a:spcPts val="1500"/>
              </a:lnSpc>
              <a:buNone/>
            </a:pPr>
            <a:r>
              <a:rPr lang="en-US" sz="950" b="1" dirty="0">
                <a:solidFill>
                  <a:srgbClr val="EBECEF"/>
                </a:solidFill>
                <a:latin typeface="Epilogue" pitchFamily="34" charset="0"/>
                <a:ea typeface="Epilogue" pitchFamily="34" charset="-122"/>
                <a:cs typeface="Epilogue" pitchFamily="34" charset="-120"/>
              </a:rPr>
              <a:t>Data Format</a:t>
            </a:r>
            <a:endParaRPr lang="en-US" sz="950" dirty="0"/>
          </a:p>
        </p:txBody>
      </p:sp>
      <p:sp>
        <p:nvSpPr>
          <p:cNvPr id="10" name="Text 7"/>
          <p:cNvSpPr/>
          <p:nvPr/>
        </p:nvSpPr>
        <p:spPr>
          <a:xfrm>
            <a:off x="9315093" y="1411962"/>
            <a:ext cx="2313742" cy="196334"/>
          </a:xfrm>
          <a:prstGeom prst="rect">
            <a:avLst/>
          </a:prstGeom>
          <a:noFill/>
          <a:ln/>
        </p:spPr>
        <p:txBody>
          <a:bodyPr wrap="none" lIns="0" tIns="0" rIns="0" bIns="0" rtlCol="0" anchor="t"/>
          <a:lstStyle/>
          <a:p>
            <a:pPr algn="l" indent="0" marL="0">
              <a:lnSpc>
                <a:spcPts val="1500"/>
              </a:lnSpc>
              <a:buNone/>
            </a:pPr>
            <a:r>
              <a:rPr lang="en-US" sz="950" dirty="0">
                <a:solidFill>
                  <a:srgbClr val="EBECEF"/>
                </a:solidFill>
                <a:latin typeface="Epilogue" pitchFamily="34" charset="0"/>
                <a:ea typeface="Epilogue" pitchFamily="34" charset="-122"/>
                <a:cs typeface="Epilogue" pitchFamily="34" charset="-120"/>
              </a:rPr>
              <a:t>OTLP (Protocol Buffers)</a:t>
            </a:r>
            <a:endParaRPr lang="en-US" sz="950" dirty="0"/>
          </a:p>
        </p:txBody>
      </p:sp>
      <p:sp>
        <p:nvSpPr>
          <p:cNvPr id="11" name="Shape 8"/>
          <p:cNvSpPr/>
          <p:nvPr/>
        </p:nvSpPr>
        <p:spPr>
          <a:xfrm>
            <a:off x="7480102" y="1689497"/>
            <a:ext cx="4271367" cy="555069"/>
          </a:xfrm>
          <a:prstGeom prst="rect">
            <a:avLst/>
          </a:prstGeom>
          <a:solidFill>
            <a:srgbClr val="000000">
              <a:alpha val="4000"/>
            </a:srgbClr>
          </a:solidFill>
          <a:ln/>
        </p:spPr>
      </p:sp>
      <p:sp>
        <p:nvSpPr>
          <p:cNvPr id="12" name="Text 9"/>
          <p:cNvSpPr/>
          <p:nvPr/>
        </p:nvSpPr>
        <p:spPr>
          <a:xfrm>
            <a:off x="7602736" y="1770697"/>
            <a:ext cx="1459468" cy="196334"/>
          </a:xfrm>
          <a:prstGeom prst="rect">
            <a:avLst/>
          </a:prstGeom>
          <a:noFill/>
          <a:ln/>
        </p:spPr>
        <p:txBody>
          <a:bodyPr wrap="none" lIns="0" tIns="0" rIns="0" bIns="0" rtlCol="0" anchor="t"/>
          <a:lstStyle/>
          <a:p>
            <a:pPr algn="l" indent="0" marL="0">
              <a:lnSpc>
                <a:spcPts val="1500"/>
              </a:lnSpc>
              <a:buNone/>
            </a:pPr>
            <a:endParaRPr lang="en-US" sz="950" dirty="0"/>
          </a:p>
        </p:txBody>
      </p:sp>
      <p:sp>
        <p:nvSpPr>
          <p:cNvPr id="13" name="Text 10"/>
          <p:cNvSpPr/>
          <p:nvPr/>
        </p:nvSpPr>
        <p:spPr>
          <a:xfrm>
            <a:off x="9315093" y="1770697"/>
            <a:ext cx="2313742" cy="392668"/>
          </a:xfrm>
          <a:prstGeom prst="rect">
            <a:avLst/>
          </a:prstGeom>
          <a:noFill/>
          <a:ln/>
        </p:spPr>
        <p:txBody>
          <a:bodyPr wrap="square" lIns="0" tIns="0" rIns="0" bIns="0" rtlCol="0" anchor="t"/>
          <a:lstStyle/>
          <a:p>
            <a:pPr algn="l" indent="0" marL="0">
              <a:lnSpc>
                <a:spcPts val="1500"/>
              </a:lnSpc>
              <a:buNone/>
            </a:pPr>
            <a:r>
              <a:rPr lang="en-US" sz="950" i="1" dirty="0">
                <a:solidFill>
                  <a:srgbClr val="EBECEF"/>
                </a:solidFill>
                <a:latin typeface="Epilogue" pitchFamily="34" charset="0"/>
                <a:ea typeface="Epilogue" pitchFamily="34" charset="-122"/>
                <a:cs typeface="Epilogue" pitchFamily="34" charset="-120"/>
              </a:rPr>
              <a:t>68-90% smaller than JSON, binary efficiency for high-volume scenarios</a:t>
            </a:r>
            <a:endParaRPr lang="en-US" sz="950" dirty="0"/>
          </a:p>
        </p:txBody>
      </p:sp>
      <p:sp>
        <p:nvSpPr>
          <p:cNvPr id="14" name="Shape 11"/>
          <p:cNvSpPr/>
          <p:nvPr/>
        </p:nvSpPr>
        <p:spPr>
          <a:xfrm>
            <a:off x="7480102" y="2244566"/>
            <a:ext cx="4271367" cy="358735"/>
          </a:xfrm>
          <a:prstGeom prst="rect">
            <a:avLst/>
          </a:prstGeom>
          <a:solidFill>
            <a:srgbClr val="FFFFFF">
              <a:alpha val="4000"/>
            </a:srgbClr>
          </a:solidFill>
          <a:ln/>
        </p:spPr>
      </p:sp>
      <p:sp>
        <p:nvSpPr>
          <p:cNvPr id="15" name="Text 12"/>
          <p:cNvSpPr/>
          <p:nvPr/>
        </p:nvSpPr>
        <p:spPr>
          <a:xfrm>
            <a:off x="7602736" y="2325767"/>
            <a:ext cx="1459468" cy="196334"/>
          </a:xfrm>
          <a:prstGeom prst="rect">
            <a:avLst/>
          </a:prstGeom>
          <a:noFill/>
          <a:ln/>
        </p:spPr>
        <p:txBody>
          <a:bodyPr wrap="none" lIns="0" tIns="0" rIns="0" bIns="0" rtlCol="0" anchor="t"/>
          <a:lstStyle/>
          <a:p>
            <a:pPr algn="l" indent="0" marL="0">
              <a:lnSpc>
                <a:spcPts val="1500"/>
              </a:lnSpc>
              <a:buNone/>
            </a:pPr>
            <a:r>
              <a:rPr lang="en-US" sz="950" b="1" dirty="0">
                <a:solidFill>
                  <a:srgbClr val="EBECEF"/>
                </a:solidFill>
                <a:latin typeface="Epilogue" pitchFamily="34" charset="0"/>
                <a:ea typeface="Epilogue" pitchFamily="34" charset="-122"/>
                <a:cs typeface="Epilogue" pitchFamily="34" charset="-120"/>
              </a:rPr>
              <a:t>Transport Protocol</a:t>
            </a:r>
            <a:endParaRPr lang="en-US" sz="950" dirty="0"/>
          </a:p>
        </p:txBody>
      </p:sp>
      <p:sp>
        <p:nvSpPr>
          <p:cNvPr id="16" name="Text 13"/>
          <p:cNvSpPr/>
          <p:nvPr/>
        </p:nvSpPr>
        <p:spPr>
          <a:xfrm>
            <a:off x="9315093" y="2325767"/>
            <a:ext cx="2313742" cy="196334"/>
          </a:xfrm>
          <a:prstGeom prst="rect">
            <a:avLst/>
          </a:prstGeom>
          <a:noFill/>
          <a:ln/>
        </p:spPr>
        <p:txBody>
          <a:bodyPr wrap="none" lIns="0" tIns="0" rIns="0" bIns="0" rtlCol="0" anchor="t"/>
          <a:lstStyle/>
          <a:p>
            <a:pPr algn="l" indent="0" marL="0">
              <a:lnSpc>
                <a:spcPts val="1500"/>
              </a:lnSpc>
              <a:buNone/>
            </a:pPr>
            <a:r>
              <a:rPr lang="en-US" sz="950" dirty="0">
                <a:solidFill>
                  <a:srgbClr val="EBECEF"/>
                </a:solidFill>
                <a:latin typeface="Epilogue" pitchFamily="34" charset="0"/>
                <a:ea typeface="Epilogue" pitchFamily="34" charset="-122"/>
                <a:cs typeface="Epilogue" pitchFamily="34" charset="-120"/>
              </a:rPr>
              <a:t>OTLP/gRPC (Port 4317, TLS 1.3)</a:t>
            </a:r>
            <a:endParaRPr lang="en-US" sz="950" dirty="0"/>
          </a:p>
        </p:txBody>
      </p:sp>
      <p:sp>
        <p:nvSpPr>
          <p:cNvPr id="17" name="Shape 14"/>
          <p:cNvSpPr/>
          <p:nvPr/>
        </p:nvSpPr>
        <p:spPr>
          <a:xfrm>
            <a:off x="7480102" y="2603302"/>
            <a:ext cx="4271367" cy="555069"/>
          </a:xfrm>
          <a:prstGeom prst="rect">
            <a:avLst/>
          </a:prstGeom>
          <a:solidFill>
            <a:srgbClr val="000000">
              <a:alpha val="4000"/>
            </a:srgbClr>
          </a:solidFill>
          <a:ln/>
        </p:spPr>
      </p:sp>
      <p:sp>
        <p:nvSpPr>
          <p:cNvPr id="18" name="Text 15"/>
          <p:cNvSpPr/>
          <p:nvPr/>
        </p:nvSpPr>
        <p:spPr>
          <a:xfrm>
            <a:off x="7602736" y="2684502"/>
            <a:ext cx="1459468" cy="196334"/>
          </a:xfrm>
          <a:prstGeom prst="rect">
            <a:avLst/>
          </a:prstGeom>
          <a:noFill/>
          <a:ln/>
        </p:spPr>
        <p:txBody>
          <a:bodyPr wrap="none" lIns="0" tIns="0" rIns="0" bIns="0" rtlCol="0" anchor="t"/>
          <a:lstStyle/>
          <a:p>
            <a:pPr algn="l" indent="0" marL="0">
              <a:lnSpc>
                <a:spcPts val="1500"/>
              </a:lnSpc>
              <a:buNone/>
            </a:pPr>
            <a:endParaRPr lang="en-US" sz="950" dirty="0"/>
          </a:p>
        </p:txBody>
      </p:sp>
      <p:sp>
        <p:nvSpPr>
          <p:cNvPr id="19" name="Text 16"/>
          <p:cNvSpPr/>
          <p:nvPr/>
        </p:nvSpPr>
        <p:spPr>
          <a:xfrm>
            <a:off x="9315093" y="2684502"/>
            <a:ext cx="2313742" cy="392668"/>
          </a:xfrm>
          <a:prstGeom prst="rect">
            <a:avLst/>
          </a:prstGeom>
          <a:noFill/>
          <a:ln/>
        </p:spPr>
        <p:txBody>
          <a:bodyPr wrap="square" lIns="0" tIns="0" rIns="0" bIns="0" rtlCol="0" anchor="t"/>
          <a:lstStyle/>
          <a:p>
            <a:pPr algn="l" indent="0" marL="0">
              <a:lnSpc>
                <a:spcPts val="1500"/>
              </a:lnSpc>
              <a:buNone/>
            </a:pPr>
            <a:r>
              <a:rPr lang="en-US" sz="950" i="1" dirty="0">
                <a:solidFill>
                  <a:srgbClr val="EBECEF"/>
                </a:solidFill>
                <a:latin typeface="Epilogue" pitchFamily="34" charset="0"/>
                <a:ea typeface="Epilogue" pitchFamily="34" charset="-122"/>
                <a:cs typeface="Epilogue" pitchFamily="34" charset="-120"/>
              </a:rPr>
              <a:t>HTTP/2 multiplexing, bidirectional streaming, connection reuse</a:t>
            </a:r>
            <a:endParaRPr lang="en-US" sz="950" dirty="0"/>
          </a:p>
        </p:txBody>
      </p:sp>
      <p:sp>
        <p:nvSpPr>
          <p:cNvPr id="20" name="Shape 17"/>
          <p:cNvSpPr/>
          <p:nvPr/>
        </p:nvSpPr>
        <p:spPr>
          <a:xfrm>
            <a:off x="7480102" y="3158371"/>
            <a:ext cx="4271367" cy="358735"/>
          </a:xfrm>
          <a:prstGeom prst="rect">
            <a:avLst/>
          </a:prstGeom>
          <a:solidFill>
            <a:srgbClr val="FFFFFF">
              <a:alpha val="4000"/>
            </a:srgbClr>
          </a:solidFill>
          <a:ln/>
        </p:spPr>
      </p:sp>
      <p:sp>
        <p:nvSpPr>
          <p:cNvPr id="21" name="Text 18"/>
          <p:cNvSpPr/>
          <p:nvPr/>
        </p:nvSpPr>
        <p:spPr>
          <a:xfrm>
            <a:off x="7602736" y="3239572"/>
            <a:ext cx="1459468" cy="196334"/>
          </a:xfrm>
          <a:prstGeom prst="rect">
            <a:avLst/>
          </a:prstGeom>
          <a:noFill/>
          <a:ln/>
        </p:spPr>
        <p:txBody>
          <a:bodyPr wrap="none" lIns="0" tIns="0" rIns="0" bIns="0" rtlCol="0" anchor="t"/>
          <a:lstStyle/>
          <a:p>
            <a:pPr algn="l" indent="0" marL="0">
              <a:lnSpc>
                <a:spcPts val="1500"/>
              </a:lnSpc>
              <a:buNone/>
            </a:pPr>
            <a:r>
              <a:rPr lang="en-US" sz="950" b="1" dirty="0">
                <a:solidFill>
                  <a:srgbClr val="EBECEF"/>
                </a:solidFill>
                <a:latin typeface="Epilogue" pitchFamily="34" charset="0"/>
                <a:ea typeface="Epilogue" pitchFamily="34" charset="-122"/>
                <a:cs typeface="Epilogue" pitchFamily="34" charset="-120"/>
              </a:rPr>
              <a:t>Integration Framework</a:t>
            </a:r>
            <a:endParaRPr lang="en-US" sz="950" dirty="0"/>
          </a:p>
        </p:txBody>
      </p:sp>
      <p:sp>
        <p:nvSpPr>
          <p:cNvPr id="22" name="Text 19"/>
          <p:cNvSpPr/>
          <p:nvPr/>
        </p:nvSpPr>
        <p:spPr>
          <a:xfrm>
            <a:off x="9315093" y="3239572"/>
            <a:ext cx="2313742" cy="196334"/>
          </a:xfrm>
          <a:prstGeom prst="rect">
            <a:avLst/>
          </a:prstGeom>
          <a:noFill/>
          <a:ln/>
        </p:spPr>
        <p:txBody>
          <a:bodyPr wrap="none" lIns="0" tIns="0" rIns="0" bIns="0" rtlCol="0" anchor="t"/>
          <a:lstStyle/>
          <a:p>
            <a:pPr algn="l" indent="0" marL="0">
              <a:lnSpc>
                <a:spcPts val="1500"/>
              </a:lnSpc>
              <a:buNone/>
            </a:pPr>
            <a:r>
              <a:rPr lang="en-US" sz="950" dirty="0">
                <a:solidFill>
                  <a:srgbClr val="EBECEF"/>
                </a:solidFill>
                <a:latin typeface="Epilogue" pitchFamily="34" charset="0"/>
                <a:ea typeface="Epilogue" pitchFamily="34" charset="-122"/>
                <a:cs typeface="Epilogue" pitchFamily="34" charset="-120"/>
              </a:rPr>
              <a:t>IBM Toolbox for Java (JT400)</a:t>
            </a:r>
            <a:endParaRPr lang="en-US" sz="950" dirty="0"/>
          </a:p>
        </p:txBody>
      </p:sp>
      <p:sp>
        <p:nvSpPr>
          <p:cNvPr id="23" name="Shape 20"/>
          <p:cNvSpPr/>
          <p:nvPr/>
        </p:nvSpPr>
        <p:spPr>
          <a:xfrm>
            <a:off x="7480102" y="3517106"/>
            <a:ext cx="4271367" cy="555069"/>
          </a:xfrm>
          <a:prstGeom prst="rect">
            <a:avLst/>
          </a:prstGeom>
          <a:solidFill>
            <a:srgbClr val="000000">
              <a:alpha val="4000"/>
            </a:srgbClr>
          </a:solidFill>
          <a:ln/>
        </p:spPr>
      </p:sp>
      <p:sp>
        <p:nvSpPr>
          <p:cNvPr id="24" name="Text 21"/>
          <p:cNvSpPr/>
          <p:nvPr/>
        </p:nvSpPr>
        <p:spPr>
          <a:xfrm>
            <a:off x="7602736" y="3598307"/>
            <a:ext cx="1459468" cy="196334"/>
          </a:xfrm>
          <a:prstGeom prst="rect">
            <a:avLst/>
          </a:prstGeom>
          <a:noFill/>
          <a:ln/>
        </p:spPr>
        <p:txBody>
          <a:bodyPr wrap="none" lIns="0" tIns="0" rIns="0" bIns="0" rtlCol="0" anchor="t"/>
          <a:lstStyle/>
          <a:p>
            <a:pPr algn="l" indent="0" marL="0">
              <a:lnSpc>
                <a:spcPts val="1500"/>
              </a:lnSpc>
              <a:buNone/>
            </a:pPr>
            <a:endParaRPr lang="en-US" sz="950" dirty="0"/>
          </a:p>
        </p:txBody>
      </p:sp>
      <p:sp>
        <p:nvSpPr>
          <p:cNvPr id="25" name="Text 22"/>
          <p:cNvSpPr/>
          <p:nvPr/>
        </p:nvSpPr>
        <p:spPr>
          <a:xfrm>
            <a:off x="9315093" y="3598307"/>
            <a:ext cx="2313742" cy="392668"/>
          </a:xfrm>
          <a:prstGeom prst="rect">
            <a:avLst/>
          </a:prstGeom>
          <a:noFill/>
          <a:ln/>
        </p:spPr>
        <p:txBody>
          <a:bodyPr wrap="square" lIns="0" tIns="0" rIns="0" bIns="0" rtlCol="0" anchor="t"/>
          <a:lstStyle/>
          <a:p>
            <a:pPr algn="l" indent="0" marL="0">
              <a:lnSpc>
                <a:spcPts val="1500"/>
              </a:lnSpc>
              <a:buNone/>
            </a:pPr>
            <a:r>
              <a:rPr lang="en-US" sz="950" i="1" dirty="0">
                <a:solidFill>
                  <a:srgbClr val="EBECEF"/>
                </a:solidFill>
                <a:latin typeface="Epilogue" pitchFamily="34" charset="0"/>
                <a:ea typeface="Epilogue" pitchFamily="34" charset="-122"/>
                <a:cs typeface="Epilogue" pitchFamily="34" charset="-120"/>
              </a:rPr>
              <a:t>Mature JDBC driver, native file access, comprehensive AS/400 API coverage</a:t>
            </a:r>
            <a:endParaRPr lang="en-US" sz="950" dirty="0"/>
          </a:p>
        </p:txBody>
      </p:sp>
      <p:sp>
        <p:nvSpPr>
          <p:cNvPr id="26" name="Shape 23"/>
          <p:cNvSpPr/>
          <p:nvPr/>
        </p:nvSpPr>
        <p:spPr>
          <a:xfrm>
            <a:off x="7480102" y="4072176"/>
            <a:ext cx="4271367" cy="358735"/>
          </a:xfrm>
          <a:prstGeom prst="rect">
            <a:avLst/>
          </a:prstGeom>
          <a:solidFill>
            <a:srgbClr val="FFFFFF">
              <a:alpha val="4000"/>
            </a:srgbClr>
          </a:solidFill>
          <a:ln/>
        </p:spPr>
      </p:sp>
      <p:sp>
        <p:nvSpPr>
          <p:cNvPr id="27" name="Text 24"/>
          <p:cNvSpPr/>
          <p:nvPr/>
        </p:nvSpPr>
        <p:spPr>
          <a:xfrm>
            <a:off x="7602736" y="4153376"/>
            <a:ext cx="1459468" cy="196334"/>
          </a:xfrm>
          <a:prstGeom prst="rect">
            <a:avLst/>
          </a:prstGeom>
          <a:noFill/>
          <a:ln/>
        </p:spPr>
        <p:txBody>
          <a:bodyPr wrap="none" lIns="0" tIns="0" rIns="0" bIns="0" rtlCol="0" anchor="t"/>
          <a:lstStyle/>
          <a:p>
            <a:pPr algn="l" indent="0" marL="0">
              <a:lnSpc>
                <a:spcPts val="1500"/>
              </a:lnSpc>
              <a:buNone/>
            </a:pPr>
            <a:r>
              <a:rPr lang="en-US" sz="950" b="1" dirty="0">
                <a:solidFill>
                  <a:srgbClr val="EBECEF"/>
                </a:solidFill>
                <a:latin typeface="Epilogue" pitchFamily="34" charset="0"/>
                <a:ea typeface="Epilogue" pitchFamily="34" charset="-122"/>
                <a:cs typeface="Epilogue" pitchFamily="34" charset="-120"/>
              </a:rPr>
              <a:t>Storage Layer</a:t>
            </a:r>
            <a:endParaRPr lang="en-US" sz="950" dirty="0"/>
          </a:p>
        </p:txBody>
      </p:sp>
      <p:sp>
        <p:nvSpPr>
          <p:cNvPr id="28" name="Text 25"/>
          <p:cNvSpPr/>
          <p:nvPr/>
        </p:nvSpPr>
        <p:spPr>
          <a:xfrm>
            <a:off x="9315093" y="4153376"/>
            <a:ext cx="2313742" cy="196334"/>
          </a:xfrm>
          <a:prstGeom prst="rect">
            <a:avLst/>
          </a:prstGeom>
          <a:noFill/>
          <a:ln/>
        </p:spPr>
        <p:txBody>
          <a:bodyPr wrap="none" lIns="0" tIns="0" rIns="0" bIns="0" rtlCol="0" anchor="t"/>
          <a:lstStyle/>
          <a:p>
            <a:pPr algn="l" indent="0" marL="0">
              <a:lnSpc>
                <a:spcPts val="1500"/>
              </a:lnSpc>
              <a:buNone/>
            </a:pPr>
            <a:r>
              <a:rPr lang="en-US" sz="950" dirty="0">
                <a:solidFill>
                  <a:srgbClr val="EBECEF"/>
                </a:solidFill>
                <a:latin typeface="Epilogue" pitchFamily="34" charset="0"/>
                <a:ea typeface="Epilogue" pitchFamily="34" charset="-122"/>
                <a:cs typeface="Epilogue" pitchFamily="34" charset="-120"/>
              </a:rPr>
              <a:t>AWS S3 with Intelligent-Tiering</a:t>
            </a:r>
            <a:endParaRPr lang="en-US" sz="950" dirty="0"/>
          </a:p>
        </p:txBody>
      </p:sp>
      <p:sp>
        <p:nvSpPr>
          <p:cNvPr id="29" name="Shape 26"/>
          <p:cNvSpPr/>
          <p:nvPr/>
        </p:nvSpPr>
        <p:spPr>
          <a:xfrm>
            <a:off x="7480102" y="4430911"/>
            <a:ext cx="4271367" cy="555069"/>
          </a:xfrm>
          <a:prstGeom prst="rect">
            <a:avLst/>
          </a:prstGeom>
          <a:solidFill>
            <a:srgbClr val="000000">
              <a:alpha val="4000"/>
            </a:srgbClr>
          </a:solidFill>
          <a:ln/>
        </p:spPr>
      </p:sp>
      <p:sp>
        <p:nvSpPr>
          <p:cNvPr id="30" name="Text 27"/>
          <p:cNvSpPr/>
          <p:nvPr/>
        </p:nvSpPr>
        <p:spPr>
          <a:xfrm>
            <a:off x="7602736" y="4512112"/>
            <a:ext cx="1459468" cy="196334"/>
          </a:xfrm>
          <a:prstGeom prst="rect">
            <a:avLst/>
          </a:prstGeom>
          <a:noFill/>
          <a:ln/>
        </p:spPr>
        <p:txBody>
          <a:bodyPr wrap="none" lIns="0" tIns="0" rIns="0" bIns="0" rtlCol="0" anchor="t"/>
          <a:lstStyle/>
          <a:p>
            <a:pPr algn="l" indent="0" marL="0">
              <a:lnSpc>
                <a:spcPts val="1500"/>
              </a:lnSpc>
              <a:buNone/>
            </a:pPr>
            <a:endParaRPr lang="en-US" sz="950" dirty="0"/>
          </a:p>
        </p:txBody>
      </p:sp>
      <p:sp>
        <p:nvSpPr>
          <p:cNvPr id="31" name="Text 28"/>
          <p:cNvSpPr/>
          <p:nvPr/>
        </p:nvSpPr>
        <p:spPr>
          <a:xfrm>
            <a:off x="9315093" y="4512112"/>
            <a:ext cx="2313742" cy="392668"/>
          </a:xfrm>
          <a:prstGeom prst="rect">
            <a:avLst/>
          </a:prstGeom>
          <a:noFill/>
          <a:ln/>
        </p:spPr>
        <p:txBody>
          <a:bodyPr wrap="square" lIns="0" tIns="0" rIns="0" bIns="0" rtlCol="0" anchor="t"/>
          <a:lstStyle/>
          <a:p>
            <a:pPr algn="l" indent="0" marL="0">
              <a:lnSpc>
                <a:spcPts val="1500"/>
              </a:lnSpc>
              <a:buNone/>
            </a:pPr>
            <a:r>
              <a:rPr lang="en-US" sz="950" i="1" dirty="0">
                <a:solidFill>
                  <a:srgbClr val="EBECEF"/>
                </a:solidFill>
                <a:latin typeface="Epilogue" pitchFamily="34" charset="0"/>
                <a:ea typeface="Epilogue" pitchFamily="34" charset="-122"/>
                <a:cs typeface="Epilogue" pitchFamily="34" charset="-120"/>
              </a:rPr>
              <a:t>Standard → IA → Glacier lifecycle for cost optimization</a:t>
            </a:r>
            <a:endParaRPr lang="en-US" sz="950" dirty="0"/>
          </a:p>
        </p:txBody>
      </p:sp>
      <p:sp>
        <p:nvSpPr>
          <p:cNvPr id="32" name="Shape 29"/>
          <p:cNvSpPr/>
          <p:nvPr/>
        </p:nvSpPr>
        <p:spPr>
          <a:xfrm>
            <a:off x="7480102" y="4985980"/>
            <a:ext cx="4271367" cy="358735"/>
          </a:xfrm>
          <a:prstGeom prst="rect">
            <a:avLst/>
          </a:prstGeom>
          <a:solidFill>
            <a:srgbClr val="FFFFFF">
              <a:alpha val="4000"/>
            </a:srgbClr>
          </a:solidFill>
          <a:ln/>
        </p:spPr>
      </p:sp>
      <p:sp>
        <p:nvSpPr>
          <p:cNvPr id="33" name="Text 30"/>
          <p:cNvSpPr/>
          <p:nvPr/>
        </p:nvSpPr>
        <p:spPr>
          <a:xfrm>
            <a:off x="7602736" y="5067181"/>
            <a:ext cx="1459468" cy="196334"/>
          </a:xfrm>
          <a:prstGeom prst="rect">
            <a:avLst/>
          </a:prstGeom>
          <a:noFill/>
          <a:ln/>
        </p:spPr>
        <p:txBody>
          <a:bodyPr wrap="none" lIns="0" tIns="0" rIns="0" bIns="0" rtlCol="0" anchor="t"/>
          <a:lstStyle/>
          <a:p>
            <a:pPr algn="l" indent="0" marL="0">
              <a:lnSpc>
                <a:spcPts val="1500"/>
              </a:lnSpc>
              <a:buNone/>
            </a:pPr>
            <a:r>
              <a:rPr lang="en-US" sz="950" b="1" dirty="0">
                <a:solidFill>
                  <a:srgbClr val="EBECEF"/>
                </a:solidFill>
                <a:latin typeface="Epilogue" pitchFamily="34" charset="0"/>
                <a:ea typeface="Epilogue" pitchFamily="34" charset="-122"/>
                <a:cs typeface="Epilogue" pitchFamily="34" charset="-120"/>
              </a:rPr>
              <a:t>Monitoring Tools</a:t>
            </a:r>
            <a:endParaRPr lang="en-US" sz="950" dirty="0"/>
          </a:p>
        </p:txBody>
      </p:sp>
      <p:sp>
        <p:nvSpPr>
          <p:cNvPr id="34" name="Text 31"/>
          <p:cNvSpPr/>
          <p:nvPr/>
        </p:nvSpPr>
        <p:spPr>
          <a:xfrm>
            <a:off x="9315093" y="5067181"/>
            <a:ext cx="2313742" cy="196334"/>
          </a:xfrm>
          <a:prstGeom prst="rect">
            <a:avLst/>
          </a:prstGeom>
          <a:noFill/>
          <a:ln/>
        </p:spPr>
        <p:txBody>
          <a:bodyPr wrap="none" lIns="0" tIns="0" rIns="0" bIns="0" rtlCol="0" anchor="t"/>
          <a:lstStyle/>
          <a:p>
            <a:pPr algn="l" indent="0" marL="0">
              <a:lnSpc>
                <a:spcPts val="1500"/>
              </a:lnSpc>
              <a:buNone/>
            </a:pPr>
            <a:r>
              <a:rPr lang="en-US" sz="950" dirty="0">
                <a:solidFill>
                  <a:srgbClr val="EBECEF"/>
                </a:solidFill>
                <a:latin typeface="Epilogue" pitchFamily="34" charset="0"/>
                <a:ea typeface="Epilogue" pitchFamily="34" charset="-122"/>
                <a:cs typeface="Epilogue" pitchFamily="34" charset="-120"/>
              </a:rPr>
              <a:t>AWS CloudWatch + Grafana</a:t>
            </a:r>
            <a:endParaRPr lang="en-US" sz="950" dirty="0"/>
          </a:p>
        </p:txBody>
      </p:sp>
      <p:sp>
        <p:nvSpPr>
          <p:cNvPr id="35" name="Shape 32"/>
          <p:cNvSpPr/>
          <p:nvPr/>
        </p:nvSpPr>
        <p:spPr>
          <a:xfrm>
            <a:off x="7480102" y="5344716"/>
            <a:ext cx="4271367" cy="555069"/>
          </a:xfrm>
          <a:prstGeom prst="rect">
            <a:avLst/>
          </a:prstGeom>
          <a:solidFill>
            <a:srgbClr val="000000">
              <a:alpha val="4000"/>
            </a:srgbClr>
          </a:solidFill>
          <a:ln/>
        </p:spPr>
      </p:sp>
      <p:sp>
        <p:nvSpPr>
          <p:cNvPr id="36" name="Text 33"/>
          <p:cNvSpPr/>
          <p:nvPr/>
        </p:nvSpPr>
        <p:spPr>
          <a:xfrm>
            <a:off x="7602736" y="5425916"/>
            <a:ext cx="1459468" cy="196334"/>
          </a:xfrm>
          <a:prstGeom prst="rect">
            <a:avLst/>
          </a:prstGeom>
          <a:noFill/>
          <a:ln/>
        </p:spPr>
        <p:txBody>
          <a:bodyPr wrap="none" lIns="0" tIns="0" rIns="0" bIns="0" rtlCol="0" anchor="t"/>
          <a:lstStyle/>
          <a:p>
            <a:pPr algn="l" indent="0" marL="0">
              <a:lnSpc>
                <a:spcPts val="1500"/>
              </a:lnSpc>
              <a:buNone/>
            </a:pPr>
            <a:endParaRPr lang="en-US" sz="950" dirty="0"/>
          </a:p>
        </p:txBody>
      </p:sp>
      <p:sp>
        <p:nvSpPr>
          <p:cNvPr id="37" name="Text 34"/>
          <p:cNvSpPr/>
          <p:nvPr/>
        </p:nvSpPr>
        <p:spPr>
          <a:xfrm>
            <a:off x="9315093" y="5425916"/>
            <a:ext cx="2313742" cy="392668"/>
          </a:xfrm>
          <a:prstGeom prst="rect">
            <a:avLst/>
          </a:prstGeom>
          <a:noFill/>
          <a:ln/>
        </p:spPr>
        <p:txBody>
          <a:bodyPr wrap="square" lIns="0" tIns="0" rIns="0" bIns="0" rtlCol="0" anchor="t"/>
          <a:lstStyle/>
          <a:p>
            <a:pPr algn="l" indent="0" marL="0">
              <a:lnSpc>
                <a:spcPts val="1500"/>
              </a:lnSpc>
              <a:buNone/>
            </a:pPr>
            <a:r>
              <a:rPr lang="en-US" sz="950" i="1" dirty="0">
                <a:solidFill>
                  <a:srgbClr val="EBECEF"/>
                </a:solidFill>
                <a:latin typeface="Epilogue" pitchFamily="34" charset="0"/>
                <a:ea typeface="Epilogue" pitchFamily="34" charset="-122"/>
                <a:cs typeface="Epilogue" pitchFamily="34" charset="-120"/>
              </a:rPr>
              <a:t>Unified dashboards, alerting, and log correlation</a:t>
            </a:r>
            <a:endParaRPr lang="en-US" sz="950" dirty="0"/>
          </a:p>
        </p:txBody>
      </p:sp>
      <p:sp>
        <p:nvSpPr>
          <p:cNvPr id="38" name="Shape 35"/>
          <p:cNvSpPr/>
          <p:nvPr/>
        </p:nvSpPr>
        <p:spPr>
          <a:xfrm>
            <a:off x="2878931" y="6977777"/>
            <a:ext cx="8872538" cy="913924"/>
          </a:xfrm>
          <a:prstGeom prst="roundRect">
            <a:avLst>
              <a:gd name="adj" fmla="val 5641"/>
            </a:avLst>
          </a:prstGeom>
          <a:solidFill>
            <a:srgbClr val="181E34"/>
          </a:solidFill>
          <a:ln/>
        </p:spPr>
      </p:sp>
      <p:pic>
        <p:nvPicPr>
          <p:cNvPr id="39" name="Image 1" descr="preencoded.png">    </p:cNvPr>
          <p:cNvPicPr>
            <a:picLocks noChangeAspect="1"/>
          </p:cNvPicPr>
          <p:nvPr/>
        </p:nvPicPr>
        <p:blipFill>
          <a:blip r:embed="rId2"/>
          <a:stretch>
            <a:fillRect/>
          </a:stretch>
        </p:blipFill>
        <p:spPr>
          <a:xfrm>
            <a:off x="3001566" y="7153156"/>
            <a:ext cx="153353" cy="122634"/>
          </a:xfrm>
          <a:prstGeom prst="rect">
            <a:avLst/>
          </a:prstGeom>
        </p:spPr>
      </p:pic>
      <p:sp>
        <p:nvSpPr>
          <p:cNvPr id="40" name="Text 36"/>
          <p:cNvSpPr/>
          <p:nvPr/>
        </p:nvSpPr>
        <p:spPr>
          <a:xfrm>
            <a:off x="3277553" y="7131010"/>
            <a:ext cx="8351282" cy="589002"/>
          </a:xfrm>
          <a:prstGeom prst="rect">
            <a:avLst/>
          </a:prstGeom>
          <a:noFill/>
          <a:ln/>
        </p:spPr>
        <p:txBody>
          <a:bodyPr wrap="square" lIns="0" tIns="0" rIns="0" bIns="0" rtlCol="0" anchor="t"/>
          <a:lstStyle/>
          <a:p>
            <a:pPr algn="l" indent="0" marL="0">
              <a:lnSpc>
                <a:spcPts val="1500"/>
              </a:lnSpc>
              <a:buNone/>
            </a:pPr>
            <a:r>
              <a:rPr lang="en-US" sz="950" b="1" dirty="0">
                <a:solidFill>
                  <a:srgbClr val="FFFFFF"/>
                </a:solidFill>
                <a:latin typeface="Epilogue" pitchFamily="34" charset="0"/>
                <a:ea typeface="Epilogue" pitchFamily="34" charset="-122"/>
                <a:cs typeface="Epilogue" pitchFamily="34" charset="-120"/>
              </a:rPr>
              <a:t>Protocol Buffers Efficiency:</a:t>
            </a:r>
            <a:pPr algn="l" indent="0" marL="0">
              <a:lnSpc>
                <a:spcPts val="1500"/>
              </a:lnSpc>
              <a:buNone/>
            </a:pPr>
            <a:r>
              <a:rPr lang="en-US" sz="950" dirty="0">
                <a:solidFill>
                  <a:srgbClr val="FFFFFF"/>
                </a:solidFill>
                <a:latin typeface="Epilogue" pitchFamily="34" charset="0"/>
                <a:ea typeface="Epilogue" pitchFamily="34" charset="-122"/>
                <a:cs typeface="Epilogue" pitchFamily="34" charset="-120"/>
              </a:rPr>
              <a:t> At 1GB/hour ingestion rates, the 68-90% compression advantage of OTLP over JSON translates to significant bandwidth and storage cost savings—approximately $180-270/month in data transfer costs at AWS pricing, with proportional reductions in S3 storage fees.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728442" y="272891"/>
            <a:ext cx="600670" cy="186571"/>
          </a:xfrm>
          <a:prstGeom prst="roundRect">
            <a:avLst>
              <a:gd name="adj" fmla="val 17872"/>
            </a:avLst>
          </a:prstGeom>
          <a:solidFill>
            <a:srgbClr val="181E34"/>
          </a:solidFill>
          <a:ln/>
        </p:spPr>
      </p:sp>
      <p:sp>
        <p:nvSpPr>
          <p:cNvPr id="3" name="Text 1"/>
          <p:cNvSpPr/>
          <p:nvPr/>
        </p:nvSpPr>
        <p:spPr>
          <a:xfrm>
            <a:off x="3787973" y="302657"/>
            <a:ext cx="481608" cy="127040"/>
          </a:xfrm>
          <a:prstGeom prst="rect">
            <a:avLst/>
          </a:prstGeom>
          <a:noFill/>
          <a:ln/>
        </p:spPr>
        <p:txBody>
          <a:bodyPr wrap="none" lIns="0" tIns="0" rIns="0" bIns="0" rtlCol="0" anchor="t"/>
          <a:lstStyle/>
          <a:p>
            <a:pPr algn="l" indent="0" marL="0">
              <a:lnSpc>
                <a:spcPts val="1000"/>
              </a:lnSpc>
              <a:buNone/>
            </a:pPr>
            <a:r>
              <a:rPr lang="en-US" sz="600" dirty="0">
                <a:solidFill>
                  <a:srgbClr val="EBECEF"/>
                </a:solidFill>
                <a:latin typeface="Epilogue" pitchFamily="34" charset="0"/>
                <a:ea typeface="Epilogue" pitchFamily="34" charset="-122"/>
                <a:cs typeface="Epilogue" pitchFamily="34" charset="-120"/>
              </a:rPr>
              <a:t>DATA FORMAT</a:t>
            </a:r>
            <a:endParaRPr lang="en-US" sz="600" dirty="0"/>
          </a:p>
        </p:txBody>
      </p:sp>
      <p:sp>
        <p:nvSpPr>
          <p:cNvPr id="4" name="Text 2"/>
          <p:cNvSpPr/>
          <p:nvPr/>
        </p:nvSpPr>
        <p:spPr>
          <a:xfrm>
            <a:off x="3728442" y="499110"/>
            <a:ext cx="4255889"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Fraunces Medium" pitchFamily="34" charset="0"/>
                <a:ea typeface="Fraunces Medium" pitchFamily="34" charset="-122"/>
                <a:cs typeface="Fraunces Medium" pitchFamily="34" charset="-120"/>
              </a:rPr>
              <a:t>OpenTelemetry Data Format Design</a:t>
            </a:r>
            <a:endParaRPr lang="en-US" sz="1950" dirty="0"/>
          </a:p>
        </p:txBody>
      </p:sp>
      <p:sp>
        <p:nvSpPr>
          <p:cNvPr id="5" name="Text 3"/>
          <p:cNvSpPr/>
          <p:nvPr/>
        </p:nvSpPr>
        <p:spPr>
          <a:xfrm>
            <a:off x="3728442" y="958096"/>
            <a:ext cx="7173397"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The transformation from AS/400-native formats to OpenTelemetry LogRecord structures requires careful mapping of legacy system metadata into semantic conventions that enable effective distributed tracing. Our design preserves critical context while conforming to OTel standards for interoperability.</a:t>
            </a:r>
            <a:endParaRPr lang="en-US" sz="750" dirty="0"/>
          </a:p>
        </p:txBody>
      </p:sp>
      <p:sp>
        <p:nvSpPr>
          <p:cNvPr id="6" name="Shape 4"/>
          <p:cNvSpPr/>
          <p:nvPr/>
        </p:nvSpPr>
        <p:spPr>
          <a:xfrm>
            <a:off x="3728442" y="1545431"/>
            <a:ext cx="3537109" cy="2315051"/>
          </a:xfrm>
          <a:prstGeom prst="roundRect">
            <a:avLst>
              <a:gd name="adj" fmla="val 1800"/>
            </a:avLst>
          </a:prstGeom>
          <a:solidFill>
            <a:srgbClr val="080E26"/>
          </a:solidFill>
          <a:ln w="15240">
            <a:solidFill>
              <a:srgbClr val="414A70"/>
            </a:solidFill>
            <a:prstDash val="solid"/>
          </a:ln>
        </p:spPr>
      </p:sp>
      <p:sp>
        <p:nvSpPr>
          <p:cNvPr id="7" name="Shape 5"/>
          <p:cNvSpPr/>
          <p:nvPr/>
        </p:nvSpPr>
        <p:spPr>
          <a:xfrm>
            <a:off x="3743682" y="1560671"/>
            <a:ext cx="3506629" cy="297656"/>
          </a:xfrm>
          <a:prstGeom prst="roundRect">
            <a:avLst>
              <a:gd name="adj" fmla="val 7859"/>
            </a:avLst>
          </a:prstGeom>
          <a:solidFill>
            <a:srgbClr val="283157"/>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22583" y="1631275"/>
            <a:ext cx="148828" cy="148828"/>
          </a:xfrm>
          <a:prstGeom prst="rect">
            <a:avLst/>
          </a:prstGeom>
        </p:spPr>
      </p:pic>
      <p:sp>
        <p:nvSpPr>
          <p:cNvPr id="9" name="Text 6"/>
          <p:cNvSpPr/>
          <p:nvPr/>
        </p:nvSpPr>
        <p:spPr>
          <a:xfrm>
            <a:off x="3842861" y="1957507"/>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Resource Attributes</a:t>
            </a:r>
            <a:endParaRPr lang="en-US" sz="1150" dirty="0"/>
          </a:p>
        </p:txBody>
      </p:sp>
      <p:sp>
        <p:nvSpPr>
          <p:cNvPr id="10" name="Text 7"/>
          <p:cNvSpPr/>
          <p:nvPr/>
        </p:nvSpPr>
        <p:spPr>
          <a:xfrm>
            <a:off x="3842861" y="2203013"/>
            <a:ext cx="3308271"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Top-level identifiers that describe the AS/400 system generating telemetry. These attributes enable filtering and aggregation across multiple iSeries instances in distributed environments.</a:t>
            </a:r>
            <a:endParaRPr lang="en-US" sz="750" dirty="0"/>
          </a:p>
        </p:txBody>
      </p:sp>
      <p:sp>
        <p:nvSpPr>
          <p:cNvPr id="11" name="Text 8"/>
          <p:cNvSpPr/>
          <p:nvPr/>
        </p:nvSpPr>
        <p:spPr>
          <a:xfrm>
            <a:off x="3842861" y="2738318"/>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service.name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RPG program or CL procedure name</a:t>
            </a:r>
            <a:endParaRPr lang="en-US" sz="750" dirty="0"/>
          </a:p>
        </p:txBody>
      </p:sp>
      <p:sp>
        <p:nvSpPr>
          <p:cNvPr id="12" name="Text 9"/>
          <p:cNvSpPr/>
          <p:nvPr/>
        </p:nvSpPr>
        <p:spPr>
          <a:xfrm>
            <a:off x="3842861" y="2946797"/>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host.name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AS/400 system name (from QSYSVAL)</a:t>
            </a:r>
            <a:endParaRPr lang="en-US" sz="750" dirty="0"/>
          </a:p>
        </p:txBody>
      </p:sp>
      <p:sp>
        <p:nvSpPr>
          <p:cNvPr id="13" name="Text 10"/>
          <p:cNvSpPr/>
          <p:nvPr/>
        </p:nvSpPr>
        <p:spPr>
          <a:xfrm>
            <a:off x="3842861" y="3155275"/>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host.type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"ibm-iseries" or "as400"</a:t>
            </a:r>
            <a:endParaRPr lang="en-US" sz="750" dirty="0"/>
          </a:p>
        </p:txBody>
      </p:sp>
      <p:sp>
        <p:nvSpPr>
          <p:cNvPr id="14" name="Text 11"/>
          <p:cNvSpPr/>
          <p:nvPr/>
        </p:nvSpPr>
        <p:spPr>
          <a:xfrm>
            <a:off x="3842861" y="3363754"/>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environment</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Production/staging/development partition</a:t>
            </a:r>
            <a:endParaRPr lang="en-US" sz="750" dirty="0"/>
          </a:p>
        </p:txBody>
      </p:sp>
      <p:sp>
        <p:nvSpPr>
          <p:cNvPr id="15" name="Text 12"/>
          <p:cNvSpPr/>
          <p:nvPr/>
        </p:nvSpPr>
        <p:spPr>
          <a:xfrm>
            <a:off x="3842861" y="3572232"/>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service.version</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Program object version from QSYS</a:t>
            </a:r>
            <a:endParaRPr lang="en-US" sz="750" dirty="0"/>
          </a:p>
        </p:txBody>
      </p:sp>
      <p:sp>
        <p:nvSpPr>
          <p:cNvPr id="16" name="Shape 13"/>
          <p:cNvSpPr/>
          <p:nvPr/>
        </p:nvSpPr>
        <p:spPr>
          <a:xfrm>
            <a:off x="7364730" y="1545431"/>
            <a:ext cx="3537109" cy="2315051"/>
          </a:xfrm>
          <a:prstGeom prst="roundRect">
            <a:avLst>
              <a:gd name="adj" fmla="val 1800"/>
            </a:avLst>
          </a:prstGeom>
          <a:solidFill>
            <a:srgbClr val="080E26"/>
          </a:solidFill>
          <a:ln w="15240">
            <a:solidFill>
              <a:srgbClr val="414A70"/>
            </a:solidFill>
            <a:prstDash val="solid"/>
          </a:ln>
        </p:spPr>
      </p:sp>
      <p:sp>
        <p:nvSpPr>
          <p:cNvPr id="17" name="Shape 14"/>
          <p:cNvSpPr/>
          <p:nvPr/>
        </p:nvSpPr>
        <p:spPr>
          <a:xfrm>
            <a:off x="7379970" y="1560671"/>
            <a:ext cx="3506629" cy="297656"/>
          </a:xfrm>
          <a:prstGeom prst="roundRect">
            <a:avLst>
              <a:gd name="adj" fmla="val 7859"/>
            </a:avLst>
          </a:prstGeom>
          <a:solidFill>
            <a:srgbClr val="283157"/>
          </a:solidFill>
          <a:ln/>
        </p:spPr>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58870" y="1631275"/>
            <a:ext cx="148828" cy="148828"/>
          </a:xfrm>
          <a:prstGeom prst="rect">
            <a:avLst/>
          </a:prstGeom>
        </p:spPr>
      </p:pic>
      <p:sp>
        <p:nvSpPr>
          <p:cNvPr id="19" name="Text 15"/>
          <p:cNvSpPr/>
          <p:nvPr/>
        </p:nvSpPr>
        <p:spPr>
          <a:xfrm>
            <a:off x="7479149" y="1957507"/>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Trace Context</a:t>
            </a:r>
            <a:endParaRPr lang="en-US" sz="1150" dirty="0"/>
          </a:p>
        </p:txBody>
      </p:sp>
      <p:sp>
        <p:nvSpPr>
          <p:cNvPr id="20" name="Text 16"/>
          <p:cNvSpPr/>
          <p:nvPr/>
        </p:nvSpPr>
        <p:spPr>
          <a:xfrm>
            <a:off x="7479149" y="2203013"/>
            <a:ext cx="3308271"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W3C Trace Context propagation fields that enable correlation of AS/400 transactions with upstream/downstream systems in hybrid architectures.</a:t>
            </a:r>
            <a:endParaRPr lang="en-US" sz="750" dirty="0"/>
          </a:p>
        </p:txBody>
      </p:sp>
      <p:sp>
        <p:nvSpPr>
          <p:cNvPr id="21" name="Text 17"/>
          <p:cNvSpPr/>
          <p:nvPr/>
        </p:nvSpPr>
        <p:spPr>
          <a:xfrm>
            <a:off x="7479149" y="2738318"/>
            <a:ext cx="3308271" cy="332423"/>
          </a:xfrm>
          <a:prstGeom prst="rect">
            <a:avLst/>
          </a:prstGeom>
          <a:noFill/>
          <a:ln/>
        </p:spPr>
        <p:txBody>
          <a:bodyPr wrap="squar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trace_id</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16-byte hex identifier (generated or extracted from external headers)</a:t>
            </a:r>
            <a:endParaRPr lang="en-US" sz="750" dirty="0"/>
          </a:p>
        </p:txBody>
      </p:sp>
      <p:sp>
        <p:nvSpPr>
          <p:cNvPr id="22" name="Text 18"/>
          <p:cNvSpPr/>
          <p:nvPr/>
        </p:nvSpPr>
        <p:spPr>
          <a:xfrm>
            <a:off x="7479149" y="3105388"/>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span_id</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8-byte hex identifier for this specific operation</a:t>
            </a:r>
            <a:endParaRPr lang="en-US" sz="750" dirty="0"/>
          </a:p>
        </p:txBody>
      </p:sp>
      <p:sp>
        <p:nvSpPr>
          <p:cNvPr id="23" name="Text 19"/>
          <p:cNvSpPr/>
          <p:nvPr/>
        </p:nvSpPr>
        <p:spPr>
          <a:xfrm>
            <a:off x="7479149" y="3313867"/>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parent_span_id</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Links to parent span in distributed traces</a:t>
            </a:r>
            <a:endParaRPr lang="en-US" sz="750" dirty="0"/>
          </a:p>
        </p:txBody>
      </p:sp>
      <p:sp>
        <p:nvSpPr>
          <p:cNvPr id="24" name="Text 20"/>
          <p:cNvSpPr/>
          <p:nvPr/>
        </p:nvSpPr>
        <p:spPr>
          <a:xfrm>
            <a:off x="7479149" y="3522345"/>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trace_flags</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Sampling decision bit flags</a:t>
            </a:r>
            <a:endParaRPr lang="en-US" sz="750" dirty="0"/>
          </a:p>
        </p:txBody>
      </p:sp>
      <p:sp>
        <p:nvSpPr>
          <p:cNvPr id="25" name="Shape 21"/>
          <p:cNvSpPr/>
          <p:nvPr/>
        </p:nvSpPr>
        <p:spPr>
          <a:xfrm>
            <a:off x="3728442" y="3959662"/>
            <a:ext cx="3537109" cy="2523530"/>
          </a:xfrm>
          <a:prstGeom prst="roundRect">
            <a:avLst>
              <a:gd name="adj" fmla="val 1652"/>
            </a:avLst>
          </a:prstGeom>
          <a:solidFill>
            <a:srgbClr val="080E26"/>
          </a:solidFill>
          <a:ln w="15240">
            <a:solidFill>
              <a:srgbClr val="414A70"/>
            </a:solidFill>
            <a:prstDash val="solid"/>
          </a:ln>
        </p:spPr>
      </p:sp>
      <p:sp>
        <p:nvSpPr>
          <p:cNvPr id="26" name="Shape 22"/>
          <p:cNvSpPr/>
          <p:nvPr/>
        </p:nvSpPr>
        <p:spPr>
          <a:xfrm>
            <a:off x="3743682" y="3974902"/>
            <a:ext cx="3506629" cy="297656"/>
          </a:xfrm>
          <a:prstGeom prst="roundRect">
            <a:avLst>
              <a:gd name="adj" fmla="val 7859"/>
            </a:avLst>
          </a:prstGeom>
          <a:solidFill>
            <a:srgbClr val="283157"/>
          </a:solidFill>
          <a:ln/>
        </p:spPr>
      </p:sp>
      <p:pic>
        <p:nvPicPr>
          <p:cNvPr id="2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22583" y="4045506"/>
            <a:ext cx="148828" cy="148828"/>
          </a:xfrm>
          <a:prstGeom prst="rect">
            <a:avLst/>
          </a:prstGeom>
        </p:spPr>
      </p:pic>
      <p:sp>
        <p:nvSpPr>
          <p:cNvPr id="28" name="Text 23"/>
          <p:cNvSpPr/>
          <p:nvPr/>
        </p:nvSpPr>
        <p:spPr>
          <a:xfrm>
            <a:off x="3842861" y="4371737"/>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LogRecord Body</a:t>
            </a:r>
            <a:endParaRPr lang="en-US" sz="1150" dirty="0"/>
          </a:p>
        </p:txBody>
      </p:sp>
      <p:sp>
        <p:nvSpPr>
          <p:cNvPr id="29" name="Text 24"/>
          <p:cNvSpPr/>
          <p:nvPr/>
        </p:nvSpPr>
        <p:spPr>
          <a:xfrm>
            <a:off x="3842861" y="4617244"/>
            <a:ext cx="3308271"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The payload containing AS/400-specific transaction data, timing information, and contextual metadata necessary for root cause analysis and performance optimization.</a:t>
            </a:r>
            <a:endParaRPr lang="en-US" sz="750" dirty="0"/>
          </a:p>
        </p:txBody>
      </p:sp>
      <p:sp>
        <p:nvSpPr>
          <p:cNvPr id="30" name="Text 25"/>
          <p:cNvSpPr/>
          <p:nvPr/>
        </p:nvSpPr>
        <p:spPr>
          <a:xfrm>
            <a:off x="3842861" y="5152549"/>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program_id</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Executing RPG/CL program name</a:t>
            </a:r>
            <a:endParaRPr lang="en-US" sz="750" dirty="0"/>
          </a:p>
        </p:txBody>
      </p:sp>
      <p:sp>
        <p:nvSpPr>
          <p:cNvPr id="31" name="Text 26"/>
          <p:cNvSpPr/>
          <p:nvPr/>
        </p:nvSpPr>
        <p:spPr>
          <a:xfrm>
            <a:off x="3842861" y="5361027"/>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transaction_id</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Business transaction identifier</a:t>
            </a:r>
            <a:endParaRPr lang="en-US" sz="750" dirty="0"/>
          </a:p>
        </p:txBody>
      </p:sp>
      <p:sp>
        <p:nvSpPr>
          <p:cNvPr id="32" name="Text 27"/>
          <p:cNvSpPr/>
          <p:nvPr/>
        </p:nvSpPr>
        <p:spPr>
          <a:xfrm>
            <a:off x="3842861" y="5569506"/>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request_data</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Input parameters (sanitized for PII)</a:t>
            </a:r>
            <a:endParaRPr lang="en-US" sz="750" dirty="0"/>
          </a:p>
        </p:txBody>
      </p:sp>
      <p:sp>
        <p:nvSpPr>
          <p:cNvPr id="33" name="Text 28"/>
          <p:cNvSpPr/>
          <p:nvPr/>
        </p:nvSpPr>
        <p:spPr>
          <a:xfrm>
            <a:off x="3842861" y="5777984"/>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response_data</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Output results and return codes</a:t>
            </a:r>
            <a:endParaRPr lang="en-US" sz="750" dirty="0"/>
          </a:p>
        </p:txBody>
      </p:sp>
      <p:sp>
        <p:nvSpPr>
          <p:cNvPr id="34" name="Text 29"/>
          <p:cNvSpPr/>
          <p:nvPr/>
        </p:nvSpPr>
        <p:spPr>
          <a:xfrm>
            <a:off x="3842861" y="5986463"/>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duration_ms</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Execution time in milliseconds</a:t>
            </a:r>
            <a:endParaRPr lang="en-US" sz="750" dirty="0"/>
          </a:p>
        </p:txBody>
      </p:sp>
      <p:sp>
        <p:nvSpPr>
          <p:cNvPr id="35" name="Text 30"/>
          <p:cNvSpPr/>
          <p:nvPr/>
        </p:nvSpPr>
        <p:spPr>
          <a:xfrm>
            <a:off x="3842861" y="6194941"/>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db2_query</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SQL statements for database operations</a:t>
            </a:r>
            <a:endParaRPr lang="en-US" sz="750" dirty="0"/>
          </a:p>
        </p:txBody>
      </p:sp>
      <p:sp>
        <p:nvSpPr>
          <p:cNvPr id="36" name="Shape 31"/>
          <p:cNvSpPr/>
          <p:nvPr/>
        </p:nvSpPr>
        <p:spPr>
          <a:xfrm>
            <a:off x="7364730" y="3959662"/>
            <a:ext cx="3537109" cy="2523530"/>
          </a:xfrm>
          <a:prstGeom prst="roundRect">
            <a:avLst>
              <a:gd name="adj" fmla="val 1652"/>
            </a:avLst>
          </a:prstGeom>
          <a:solidFill>
            <a:srgbClr val="080E26"/>
          </a:solidFill>
          <a:ln w="15240">
            <a:solidFill>
              <a:srgbClr val="414A70"/>
            </a:solidFill>
            <a:prstDash val="solid"/>
          </a:ln>
        </p:spPr>
      </p:sp>
      <p:sp>
        <p:nvSpPr>
          <p:cNvPr id="37" name="Shape 32"/>
          <p:cNvSpPr/>
          <p:nvPr/>
        </p:nvSpPr>
        <p:spPr>
          <a:xfrm>
            <a:off x="7379970" y="3974902"/>
            <a:ext cx="3506629" cy="297656"/>
          </a:xfrm>
          <a:prstGeom prst="roundRect">
            <a:avLst>
              <a:gd name="adj" fmla="val 7859"/>
            </a:avLst>
          </a:prstGeom>
          <a:solidFill>
            <a:srgbClr val="283157"/>
          </a:solidFill>
          <a:ln/>
        </p:spPr>
      </p:sp>
      <p:pic>
        <p:nvPicPr>
          <p:cNvPr id="3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58870" y="4045506"/>
            <a:ext cx="148828" cy="148828"/>
          </a:xfrm>
          <a:prstGeom prst="rect">
            <a:avLst/>
          </a:prstGeom>
        </p:spPr>
      </p:pic>
      <p:sp>
        <p:nvSpPr>
          <p:cNvPr id="39" name="Text 33"/>
          <p:cNvSpPr/>
          <p:nvPr/>
        </p:nvSpPr>
        <p:spPr>
          <a:xfrm>
            <a:off x="7479149" y="4371737"/>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Semantic Attributes</a:t>
            </a:r>
            <a:endParaRPr lang="en-US" sz="1150" dirty="0"/>
          </a:p>
        </p:txBody>
      </p:sp>
      <p:sp>
        <p:nvSpPr>
          <p:cNvPr id="40" name="Text 34"/>
          <p:cNvSpPr/>
          <p:nvPr/>
        </p:nvSpPr>
        <p:spPr>
          <a:xfrm>
            <a:off x="7479149" y="4617244"/>
            <a:ext cx="3308271" cy="317183"/>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Standardized OTel attributes that classify the operation type and enable cross-platform analysis with other instrumented services.</a:t>
            </a:r>
            <a:endParaRPr lang="en-US" sz="750" dirty="0"/>
          </a:p>
        </p:txBody>
      </p:sp>
      <p:sp>
        <p:nvSpPr>
          <p:cNvPr id="41" name="Text 35"/>
          <p:cNvSpPr/>
          <p:nvPr/>
        </p:nvSpPr>
        <p:spPr>
          <a:xfrm>
            <a:off x="7479149" y="4993958"/>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db.system</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"db2_for_i" for database operations</a:t>
            </a:r>
            <a:endParaRPr lang="en-US" sz="750" dirty="0"/>
          </a:p>
        </p:txBody>
      </p:sp>
      <p:sp>
        <p:nvSpPr>
          <p:cNvPr id="42" name="Text 36"/>
          <p:cNvSpPr/>
          <p:nvPr/>
        </p:nvSpPr>
        <p:spPr>
          <a:xfrm>
            <a:off x="7479149" y="5202436"/>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db.name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Library/schema name</a:t>
            </a:r>
            <a:endParaRPr lang="en-US" sz="750" dirty="0"/>
          </a:p>
        </p:txBody>
      </p:sp>
      <p:sp>
        <p:nvSpPr>
          <p:cNvPr id="43" name="Text 37"/>
          <p:cNvSpPr/>
          <p:nvPr/>
        </p:nvSpPr>
        <p:spPr>
          <a:xfrm>
            <a:off x="7479149" y="5410914"/>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db.operation</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SELECT/INSERT/UPDATE/DELETE/CALL</a:t>
            </a:r>
            <a:endParaRPr lang="en-US" sz="750" dirty="0"/>
          </a:p>
        </p:txBody>
      </p:sp>
      <p:sp>
        <p:nvSpPr>
          <p:cNvPr id="44" name="Text 38"/>
          <p:cNvSpPr/>
          <p:nvPr/>
        </p:nvSpPr>
        <p:spPr>
          <a:xfrm>
            <a:off x="7479149" y="5619393"/>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rpc.service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RPG program name for remote calls</a:t>
            </a:r>
            <a:endParaRPr lang="en-US" sz="750" dirty="0"/>
          </a:p>
        </p:txBody>
      </p:sp>
      <p:sp>
        <p:nvSpPr>
          <p:cNvPr id="45" name="Text 39"/>
          <p:cNvSpPr/>
          <p:nvPr/>
        </p:nvSpPr>
        <p:spPr>
          <a:xfrm>
            <a:off x="7479149" y="5827871"/>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rpc.method</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Procedure/subroutine invoked</a:t>
            </a:r>
            <a:endParaRPr lang="en-US" sz="750" dirty="0"/>
          </a:p>
        </p:txBody>
      </p:sp>
      <p:sp>
        <p:nvSpPr>
          <p:cNvPr id="46" name="Text 40"/>
          <p:cNvSpPr/>
          <p:nvPr/>
        </p:nvSpPr>
        <p:spPr>
          <a:xfrm>
            <a:off x="7479149" y="6036350"/>
            <a:ext cx="3308271" cy="17383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highlight>
                  <a:srgbClr val="151B33"/>
                </a:highlight>
                <a:latin typeface="Consolas" pitchFamily="34" charset="0"/>
                <a:ea typeface="Consolas" pitchFamily="34" charset="-122"/>
                <a:cs typeface="Consolas" pitchFamily="34" charset="-120"/>
              </a:rPr>
              <a:t>http.status_code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Mapped from return codes for web services</a:t>
            </a:r>
            <a:endParaRPr lang="en-US" sz="750" dirty="0"/>
          </a:p>
        </p:txBody>
      </p:sp>
      <p:sp>
        <p:nvSpPr>
          <p:cNvPr id="47" name="Text 41"/>
          <p:cNvSpPr/>
          <p:nvPr/>
        </p:nvSpPr>
        <p:spPr>
          <a:xfrm>
            <a:off x="3728442" y="6632019"/>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FFFFFF"/>
                </a:solidFill>
                <a:latin typeface="Fraunces Medium" pitchFamily="34" charset="0"/>
                <a:ea typeface="Fraunces Medium" pitchFamily="34" charset="-122"/>
                <a:cs typeface="Fraunces Medium" pitchFamily="34" charset="-120"/>
              </a:rPr>
              <a:t>Conversion Pipeline</a:t>
            </a:r>
            <a:endParaRPr lang="en-US" sz="1150" dirty="0"/>
          </a:p>
        </p:txBody>
      </p:sp>
      <p:pic>
        <p:nvPicPr>
          <p:cNvPr id="48" name="Image 4" descr="preencoded.png">    </p:cNvPr>
          <p:cNvPicPr>
            <a:picLocks noChangeAspect="1"/>
          </p:cNvPicPr>
          <p:nvPr/>
        </p:nvPicPr>
        <p:blipFill>
          <a:blip r:embed="rId9"/>
          <a:stretch>
            <a:fillRect/>
          </a:stretch>
        </p:blipFill>
        <p:spPr>
          <a:xfrm>
            <a:off x="3728442" y="6966823"/>
            <a:ext cx="3586639" cy="396835"/>
          </a:xfrm>
          <a:prstGeom prst="rect">
            <a:avLst/>
          </a:prstGeom>
        </p:spPr>
      </p:pic>
      <p:sp>
        <p:nvSpPr>
          <p:cNvPr id="49" name="Text 42"/>
          <p:cNvSpPr/>
          <p:nvPr/>
        </p:nvSpPr>
        <p:spPr>
          <a:xfrm>
            <a:off x="3827621" y="7462838"/>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EBCDIC Decode</a:t>
            </a:r>
            <a:endParaRPr lang="en-US" sz="950" dirty="0"/>
          </a:p>
        </p:txBody>
      </p:sp>
      <p:sp>
        <p:nvSpPr>
          <p:cNvPr id="50" name="Text 43"/>
          <p:cNvSpPr/>
          <p:nvPr/>
        </p:nvSpPr>
        <p:spPr>
          <a:xfrm>
            <a:off x="3827621" y="7677388"/>
            <a:ext cx="3388281" cy="317183"/>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Character set conversion from EBCDIC (CCSID 37/500) to UTF-8 using ICU4J libraries</a:t>
            </a:r>
            <a:endParaRPr lang="en-US" sz="750" dirty="0"/>
          </a:p>
        </p:txBody>
      </p:sp>
      <p:pic>
        <p:nvPicPr>
          <p:cNvPr id="51" name="Image 5" descr="preencoded.png">    </p:cNvPr>
          <p:cNvPicPr>
            <a:picLocks noChangeAspect="1"/>
          </p:cNvPicPr>
          <p:nvPr/>
        </p:nvPicPr>
        <p:blipFill>
          <a:blip r:embed="rId10"/>
          <a:stretch>
            <a:fillRect/>
          </a:stretch>
        </p:blipFill>
        <p:spPr>
          <a:xfrm>
            <a:off x="7315081" y="6966823"/>
            <a:ext cx="3586758" cy="396835"/>
          </a:xfrm>
          <a:prstGeom prst="rect">
            <a:avLst/>
          </a:prstGeom>
        </p:spPr>
      </p:pic>
      <p:sp>
        <p:nvSpPr>
          <p:cNvPr id="52" name="Text 44"/>
          <p:cNvSpPr/>
          <p:nvPr/>
        </p:nvSpPr>
        <p:spPr>
          <a:xfrm>
            <a:off x="7414260" y="7462838"/>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Record Parse</a:t>
            </a:r>
            <a:endParaRPr lang="en-US" sz="950" dirty="0"/>
          </a:p>
        </p:txBody>
      </p:sp>
      <p:sp>
        <p:nvSpPr>
          <p:cNvPr id="53" name="Text 45"/>
          <p:cNvSpPr/>
          <p:nvPr/>
        </p:nvSpPr>
        <p:spPr>
          <a:xfrm>
            <a:off x="7414260" y="7677388"/>
            <a:ext cx="3388400" cy="317183"/>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Field extraction from fixed-format physical files or DB2 result sets via JT400 API</a:t>
            </a:r>
            <a:endParaRPr lang="en-US" sz="750" dirty="0"/>
          </a:p>
        </p:txBody>
      </p:sp>
      <p:pic>
        <p:nvPicPr>
          <p:cNvPr id="54" name="Image 6" descr="preencoded.png">    </p:cNvPr>
          <p:cNvPicPr>
            <a:picLocks noChangeAspect="1"/>
          </p:cNvPicPr>
          <p:nvPr/>
        </p:nvPicPr>
        <p:blipFill>
          <a:blip r:embed="rId11"/>
          <a:stretch>
            <a:fillRect/>
          </a:stretch>
        </p:blipFill>
        <p:spPr>
          <a:xfrm>
            <a:off x="3728442" y="8093750"/>
            <a:ext cx="3586639" cy="396835"/>
          </a:xfrm>
          <a:prstGeom prst="rect">
            <a:avLst/>
          </a:prstGeom>
        </p:spPr>
      </p:pic>
      <p:sp>
        <p:nvSpPr>
          <p:cNvPr id="55" name="Text 46"/>
          <p:cNvSpPr/>
          <p:nvPr/>
        </p:nvSpPr>
        <p:spPr>
          <a:xfrm>
            <a:off x="3827621" y="8589764"/>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OTLP Build</a:t>
            </a:r>
            <a:endParaRPr lang="en-US" sz="950" dirty="0"/>
          </a:p>
        </p:txBody>
      </p:sp>
      <p:sp>
        <p:nvSpPr>
          <p:cNvPr id="56" name="Text 47"/>
          <p:cNvSpPr/>
          <p:nvPr/>
        </p:nvSpPr>
        <p:spPr>
          <a:xfrm>
            <a:off x="3827621" y="8804315"/>
            <a:ext cx="3388281" cy="317183"/>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Construction of LogRecord or Span proto messages with semantic attributes</a:t>
            </a:r>
            <a:endParaRPr lang="en-US" sz="750" dirty="0"/>
          </a:p>
        </p:txBody>
      </p:sp>
      <p:pic>
        <p:nvPicPr>
          <p:cNvPr id="57" name="Image 7" descr="preencoded.png">    </p:cNvPr>
          <p:cNvPicPr>
            <a:picLocks noChangeAspect="1"/>
          </p:cNvPicPr>
          <p:nvPr/>
        </p:nvPicPr>
        <p:blipFill>
          <a:blip r:embed="rId12"/>
          <a:stretch>
            <a:fillRect/>
          </a:stretch>
        </p:blipFill>
        <p:spPr>
          <a:xfrm>
            <a:off x="7315081" y="8093750"/>
            <a:ext cx="3586758" cy="396835"/>
          </a:xfrm>
          <a:prstGeom prst="rect">
            <a:avLst/>
          </a:prstGeom>
        </p:spPr>
      </p:pic>
      <p:sp>
        <p:nvSpPr>
          <p:cNvPr id="58" name="Text 48"/>
          <p:cNvSpPr/>
          <p:nvPr/>
        </p:nvSpPr>
        <p:spPr>
          <a:xfrm>
            <a:off x="7414260" y="8589764"/>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Batch &amp; Ship</a:t>
            </a:r>
            <a:endParaRPr lang="en-US" sz="950" dirty="0"/>
          </a:p>
        </p:txBody>
      </p:sp>
      <p:sp>
        <p:nvSpPr>
          <p:cNvPr id="59" name="Text 49"/>
          <p:cNvSpPr/>
          <p:nvPr/>
        </p:nvSpPr>
        <p:spPr>
          <a:xfrm>
            <a:off x="7414260" y="8804315"/>
            <a:ext cx="3388400" cy="317183"/>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10k-record chunks with checkpointing for exactly-once delivery guarantees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728442" y="272891"/>
            <a:ext cx="861179" cy="186571"/>
          </a:xfrm>
          <a:prstGeom prst="roundRect">
            <a:avLst>
              <a:gd name="adj" fmla="val 17872"/>
            </a:avLst>
          </a:prstGeom>
          <a:solidFill>
            <a:srgbClr val="181E34"/>
          </a:solidFill>
          <a:ln/>
        </p:spPr>
      </p:sp>
      <p:sp>
        <p:nvSpPr>
          <p:cNvPr id="3" name="Text 1"/>
          <p:cNvSpPr/>
          <p:nvPr/>
        </p:nvSpPr>
        <p:spPr>
          <a:xfrm>
            <a:off x="3787973" y="302657"/>
            <a:ext cx="742117" cy="127040"/>
          </a:xfrm>
          <a:prstGeom prst="rect">
            <a:avLst/>
          </a:prstGeom>
          <a:noFill/>
          <a:ln/>
        </p:spPr>
        <p:txBody>
          <a:bodyPr wrap="none" lIns="0" tIns="0" rIns="0" bIns="0" rtlCol="0" anchor="t"/>
          <a:lstStyle/>
          <a:p>
            <a:pPr algn="l" indent="0" marL="0">
              <a:lnSpc>
                <a:spcPts val="1000"/>
              </a:lnSpc>
              <a:buNone/>
            </a:pPr>
            <a:r>
              <a:rPr lang="en-US" sz="600" dirty="0">
                <a:solidFill>
                  <a:srgbClr val="EBECEF"/>
                </a:solidFill>
                <a:latin typeface="Epilogue" pitchFamily="34" charset="0"/>
                <a:ea typeface="Epilogue" pitchFamily="34" charset="-122"/>
                <a:cs typeface="Epilogue" pitchFamily="34" charset="-120"/>
              </a:rPr>
              <a:t>BACKEND SELECTION</a:t>
            </a:r>
            <a:endParaRPr lang="en-US" sz="600" dirty="0"/>
          </a:p>
        </p:txBody>
      </p:sp>
      <p:sp>
        <p:nvSpPr>
          <p:cNvPr id="4" name="Text 2"/>
          <p:cNvSpPr/>
          <p:nvPr/>
        </p:nvSpPr>
        <p:spPr>
          <a:xfrm>
            <a:off x="3728442" y="499110"/>
            <a:ext cx="4249936"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Fraunces Medium" pitchFamily="34" charset="0"/>
                <a:ea typeface="Fraunces Medium" pitchFamily="34" charset="-122"/>
                <a:cs typeface="Fraunces Medium" pitchFamily="34" charset="-120"/>
              </a:rPr>
              <a:t>OpenTelemetry Backend Evaluation</a:t>
            </a:r>
            <a:endParaRPr lang="en-US" sz="1950" dirty="0"/>
          </a:p>
        </p:txBody>
      </p:sp>
      <p:sp>
        <p:nvSpPr>
          <p:cNvPr id="5" name="Text 3"/>
          <p:cNvSpPr/>
          <p:nvPr/>
        </p:nvSpPr>
        <p:spPr>
          <a:xfrm>
            <a:off x="3728442" y="958096"/>
            <a:ext cx="7173397"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Selecting the appropriate telemetry backend requires balancing multiple factors: integration complexity, cost structure, query performance, scalability limits, and operational overhead. We evaluated both AWS-native and open-source solutions to provide deployment flexibility based on organizational constraints and existing infrastructure investments.</a:t>
            </a:r>
            <a:endParaRPr lang="en-US" sz="750" dirty="0"/>
          </a:p>
        </p:txBody>
      </p:sp>
      <p:sp>
        <p:nvSpPr>
          <p:cNvPr id="6" name="Text 4"/>
          <p:cNvSpPr/>
          <p:nvPr/>
        </p:nvSpPr>
        <p:spPr>
          <a:xfrm>
            <a:off x="3728442" y="1644610"/>
            <a:ext cx="3465671" cy="496014"/>
          </a:xfrm>
          <a:prstGeom prst="rect">
            <a:avLst/>
          </a:prstGeom>
          <a:noFill/>
          <a:ln/>
        </p:spPr>
        <p:txBody>
          <a:bodyPr wrap="square" lIns="0" tIns="0" rIns="0" bIns="0" rtlCol="0" anchor="t"/>
          <a:lstStyle/>
          <a:p>
            <a:pPr algn="l" indent="0" marL="0">
              <a:lnSpc>
                <a:spcPts val="1950"/>
              </a:lnSpc>
              <a:buNone/>
            </a:pPr>
            <a:r>
              <a:rPr lang="en-US" sz="1550" dirty="0">
                <a:solidFill>
                  <a:srgbClr val="FFFFFF"/>
                </a:solidFill>
                <a:latin typeface="Fraunces Medium" pitchFamily="34" charset="0"/>
                <a:ea typeface="Fraunces Medium" pitchFamily="34" charset="-122"/>
                <a:cs typeface="Fraunces Medium" pitchFamily="34" charset="-120"/>
              </a:rPr>
              <a:t>Primary Recommendation: AWS X-Ray</a:t>
            </a:r>
            <a:endParaRPr lang="en-US" sz="1550" dirty="0"/>
          </a:p>
        </p:txBody>
      </p:sp>
      <p:pic>
        <p:nvPicPr>
          <p:cNvPr id="7" name="Image 0" descr="preencoded.png">    </p:cNvPr>
          <p:cNvPicPr>
            <a:picLocks noChangeAspect="1"/>
          </p:cNvPicPr>
          <p:nvPr/>
        </p:nvPicPr>
        <p:blipFill>
          <a:blip r:embed="rId1"/>
          <a:stretch>
            <a:fillRect/>
          </a:stretch>
        </p:blipFill>
        <p:spPr>
          <a:xfrm>
            <a:off x="3728442" y="2252186"/>
            <a:ext cx="3465671" cy="3465671"/>
          </a:xfrm>
          <a:prstGeom prst="rect">
            <a:avLst/>
          </a:prstGeom>
        </p:spPr>
      </p:pic>
      <p:sp>
        <p:nvSpPr>
          <p:cNvPr id="8" name="Shape 5"/>
          <p:cNvSpPr/>
          <p:nvPr/>
        </p:nvSpPr>
        <p:spPr>
          <a:xfrm>
            <a:off x="3728442" y="5882164"/>
            <a:ext cx="49530" cy="49530"/>
          </a:xfrm>
          <a:prstGeom prst="roundRect">
            <a:avLst>
              <a:gd name="adj" fmla="val 923077"/>
            </a:avLst>
          </a:prstGeom>
          <a:solidFill>
            <a:srgbClr val="8C98CA"/>
          </a:solidFill>
          <a:ln/>
        </p:spPr>
      </p:sp>
      <p:sp>
        <p:nvSpPr>
          <p:cNvPr id="9" name="Text 6"/>
          <p:cNvSpPr/>
          <p:nvPr/>
        </p:nvSpPr>
        <p:spPr>
          <a:xfrm>
            <a:off x="3877151" y="5829419"/>
            <a:ext cx="1394936"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Native AWS Integration</a:t>
            </a:r>
            <a:endParaRPr lang="en-US" sz="950" dirty="0"/>
          </a:p>
        </p:txBody>
      </p:sp>
      <p:sp>
        <p:nvSpPr>
          <p:cNvPr id="10" name="Text 7"/>
          <p:cNvSpPr/>
          <p:nvPr/>
        </p:nvSpPr>
        <p:spPr>
          <a:xfrm>
            <a:off x="3877151" y="6083618"/>
            <a:ext cx="3316962" cy="634365"/>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Zero-configuration integration with AWS services (Lambda, ECS, API Gateway, ALB) via X-Ray SDK and auto-instrumentation. Automatic service map generation from trace data without additional configuration.</a:t>
            </a:r>
            <a:endParaRPr lang="en-US" sz="750" dirty="0"/>
          </a:p>
        </p:txBody>
      </p:sp>
      <p:sp>
        <p:nvSpPr>
          <p:cNvPr id="11" name="Shape 8"/>
          <p:cNvSpPr/>
          <p:nvPr/>
        </p:nvSpPr>
        <p:spPr>
          <a:xfrm>
            <a:off x="3728442" y="6969085"/>
            <a:ext cx="49530" cy="49530"/>
          </a:xfrm>
          <a:prstGeom prst="roundRect">
            <a:avLst>
              <a:gd name="adj" fmla="val 923077"/>
            </a:avLst>
          </a:prstGeom>
          <a:solidFill>
            <a:srgbClr val="8C98CA"/>
          </a:solidFill>
          <a:ln/>
        </p:spPr>
      </p:sp>
      <p:sp>
        <p:nvSpPr>
          <p:cNvPr id="12" name="Text 9"/>
          <p:cNvSpPr/>
          <p:nvPr/>
        </p:nvSpPr>
        <p:spPr>
          <a:xfrm>
            <a:off x="3877151" y="6916341"/>
            <a:ext cx="1544241"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Cost-Effective Entry Point</a:t>
            </a:r>
            <a:endParaRPr lang="en-US" sz="950" dirty="0"/>
          </a:p>
        </p:txBody>
      </p:sp>
      <p:sp>
        <p:nvSpPr>
          <p:cNvPr id="13" name="Text 10"/>
          <p:cNvSpPr/>
          <p:nvPr/>
        </p:nvSpPr>
        <p:spPr>
          <a:xfrm>
            <a:off x="3877151" y="7170539"/>
            <a:ext cx="3316962" cy="634365"/>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AWS Free Tier includes 100,000 traces recorded and 1,000,000 traces retrieved per month—sufficient for initial deployments. Beyond free tier: $5 per million traces recorded, $0.50 per million traces retrieved.</a:t>
            </a:r>
            <a:endParaRPr lang="en-US" sz="750" dirty="0"/>
          </a:p>
        </p:txBody>
      </p:sp>
      <p:sp>
        <p:nvSpPr>
          <p:cNvPr id="14" name="Shape 11"/>
          <p:cNvSpPr/>
          <p:nvPr/>
        </p:nvSpPr>
        <p:spPr>
          <a:xfrm>
            <a:off x="3728442" y="8056007"/>
            <a:ext cx="49530" cy="49530"/>
          </a:xfrm>
          <a:prstGeom prst="roundRect">
            <a:avLst>
              <a:gd name="adj" fmla="val 923077"/>
            </a:avLst>
          </a:prstGeom>
          <a:solidFill>
            <a:srgbClr val="8C98CA"/>
          </a:solidFill>
          <a:ln/>
        </p:spPr>
      </p:sp>
      <p:sp>
        <p:nvSpPr>
          <p:cNvPr id="15" name="Text 12"/>
          <p:cNvSpPr/>
          <p:nvPr/>
        </p:nvSpPr>
        <p:spPr>
          <a:xfrm>
            <a:off x="3877151" y="8003262"/>
            <a:ext cx="1969175"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Low-Latency Query Performance</a:t>
            </a:r>
            <a:endParaRPr lang="en-US" sz="950" dirty="0"/>
          </a:p>
        </p:txBody>
      </p:sp>
      <p:sp>
        <p:nvSpPr>
          <p:cNvPr id="16" name="Text 13"/>
          <p:cNvSpPr/>
          <p:nvPr/>
        </p:nvSpPr>
        <p:spPr>
          <a:xfrm>
            <a:off x="3877151" y="8257461"/>
            <a:ext cx="3316962"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Purpose-built for sub-second query response on service maps and trace timelines. Optimized indexing on trace IDs, service names, and HTTP status codes for rapid troubleshooting workflows.</a:t>
            </a:r>
            <a:endParaRPr lang="en-US" sz="750" dirty="0"/>
          </a:p>
        </p:txBody>
      </p:sp>
      <p:sp>
        <p:nvSpPr>
          <p:cNvPr id="17" name="Shape 14"/>
          <p:cNvSpPr/>
          <p:nvPr/>
        </p:nvSpPr>
        <p:spPr>
          <a:xfrm>
            <a:off x="3728442" y="8984337"/>
            <a:ext cx="49530" cy="49530"/>
          </a:xfrm>
          <a:prstGeom prst="roundRect">
            <a:avLst>
              <a:gd name="adj" fmla="val 923077"/>
            </a:avLst>
          </a:prstGeom>
          <a:solidFill>
            <a:srgbClr val="8C98CA"/>
          </a:solidFill>
          <a:ln/>
        </p:spPr>
      </p:sp>
      <p:sp>
        <p:nvSpPr>
          <p:cNvPr id="18" name="Text 15"/>
          <p:cNvSpPr/>
          <p:nvPr/>
        </p:nvSpPr>
        <p:spPr>
          <a:xfrm>
            <a:off x="3877151" y="8931593"/>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Elastic Scalability</a:t>
            </a:r>
            <a:endParaRPr lang="en-US" sz="950" dirty="0"/>
          </a:p>
        </p:txBody>
      </p:sp>
      <p:sp>
        <p:nvSpPr>
          <p:cNvPr id="19" name="Text 16"/>
          <p:cNvSpPr/>
          <p:nvPr/>
        </p:nvSpPr>
        <p:spPr>
          <a:xfrm>
            <a:off x="3877151" y="9185791"/>
            <a:ext cx="3316962"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Serverless architecture with automatic scaling to handle traffic spikes. No infrastructure provisioning or capacity planning required—scales with AS/400 transaction volumes.</a:t>
            </a:r>
            <a:endParaRPr lang="en-US" sz="750" dirty="0"/>
          </a:p>
        </p:txBody>
      </p:sp>
      <p:sp>
        <p:nvSpPr>
          <p:cNvPr id="20" name="Shape 17"/>
          <p:cNvSpPr/>
          <p:nvPr/>
        </p:nvSpPr>
        <p:spPr>
          <a:xfrm>
            <a:off x="3728442" y="9773126"/>
            <a:ext cx="3465671" cy="738545"/>
          </a:xfrm>
          <a:prstGeom prst="roundRect">
            <a:avLst>
              <a:gd name="adj" fmla="val 5643"/>
            </a:avLst>
          </a:prstGeom>
          <a:solidFill>
            <a:srgbClr val="181E34"/>
          </a:solidFill>
          <a:ln/>
        </p:spPr>
      </p:sp>
      <p:pic>
        <p:nvPicPr>
          <p:cNvPr id="21" name="Image 1" descr="preencoded.png">    </p:cNvPr>
          <p:cNvPicPr>
            <a:picLocks noChangeAspect="1"/>
          </p:cNvPicPr>
          <p:nvPr/>
        </p:nvPicPr>
        <p:blipFill>
          <a:blip r:embed="rId2"/>
          <a:stretch>
            <a:fillRect/>
          </a:stretch>
        </p:blipFill>
        <p:spPr>
          <a:xfrm>
            <a:off x="3827621" y="9909334"/>
            <a:ext cx="123944" cy="99179"/>
          </a:xfrm>
          <a:prstGeom prst="rect">
            <a:avLst/>
          </a:prstGeom>
        </p:spPr>
      </p:pic>
      <p:sp>
        <p:nvSpPr>
          <p:cNvPr id="22" name="Text 18"/>
          <p:cNvSpPr/>
          <p:nvPr/>
        </p:nvSpPr>
        <p:spPr>
          <a:xfrm>
            <a:off x="4050744" y="9897070"/>
            <a:ext cx="3044190" cy="475774"/>
          </a:xfrm>
          <a:prstGeom prst="rect">
            <a:avLst/>
          </a:prstGeom>
          <a:noFill/>
          <a:ln/>
        </p:spPr>
        <p:txBody>
          <a:bodyPr wrap="square" lIns="0" tIns="0" rIns="0" bIns="0" rtlCol="0" anchor="t"/>
          <a:lstStyle/>
          <a:p>
            <a:pPr algn="l" indent="0" marL="0">
              <a:lnSpc>
                <a:spcPts val="1250"/>
              </a:lnSpc>
              <a:buNone/>
            </a:pPr>
            <a:r>
              <a:rPr lang="en-US" sz="750" b="1" dirty="0">
                <a:solidFill>
                  <a:srgbClr val="FFFFFF"/>
                </a:solidFill>
                <a:latin typeface="Epilogue" pitchFamily="34" charset="0"/>
                <a:ea typeface="Epilogue" pitchFamily="34" charset="-122"/>
                <a:cs typeface="Epilogue" pitchFamily="34" charset="-120"/>
              </a:rPr>
              <a:t>Best Fit:</a:t>
            </a:r>
            <a:pPr algn="l" indent="0" marL="0">
              <a:lnSpc>
                <a:spcPts val="1250"/>
              </a:lnSpc>
              <a:buNone/>
            </a:pPr>
            <a:r>
              <a:rPr lang="en-US" sz="750" dirty="0">
                <a:solidFill>
                  <a:srgbClr val="FFFFFF"/>
                </a:solidFill>
                <a:latin typeface="Epilogue" pitchFamily="34" charset="0"/>
                <a:ea typeface="Epilogue" pitchFamily="34" charset="-122"/>
                <a:cs typeface="Epilogue" pitchFamily="34" charset="-120"/>
              </a:rPr>
              <a:t> Organizations with existing AWS infrastructure, teams familiar with AWS console workflows, or deployments prioritizing rapid time-to-value over customization flexibility.</a:t>
            </a:r>
            <a:endParaRPr lang="en-US" sz="750" dirty="0"/>
          </a:p>
        </p:txBody>
      </p:sp>
      <p:sp>
        <p:nvSpPr>
          <p:cNvPr id="23" name="Text 19"/>
          <p:cNvSpPr/>
          <p:nvPr/>
        </p:nvSpPr>
        <p:spPr>
          <a:xfrm>
            <a:off x="7443668" y="1644610"/>
            <a:ext cx="2628543" cy="248007"/>
          </a:xfrm>
          <a:prstGeom prst="rect">
            <a:avLst/>
          </a:prstGeom>
          <a:noFill/>
          <a:ln/>
        </p:spPr>
        <p:txBody>
          <a:bodyPr wrap="none" lIns="0" tIns="0" rIns="0" bIns="0" rtlCol="0" anchor="t"/>
          <a:lstStyle/>
          <a:p>
            <a:pPr algn="l" indent="0" marL="0">
              <a:lnSpc>
                <a:spcPts val="1950"/>
              </a:lnSpc>
              <a:buNone/>
            </a:pPr>
            <a:r>
              <a:rPr lang="en-US" sz="1550" dirty="0">
                <a:solidFill>
                  <a:srgbClr val="FFFFFF"/>
                </a:solidFill>
                <a:latin typeface="Fraunces Medium" pitchFamily="34" charset="0"/>
                <a:ea typeface="Fraunces Medium" pitchFamily="34" charset="-122"/>
                <a:cs typeface="Fraunces Medium" pitchFamily="34" charset="-120"/>
              </a:rPr>
              <a:t>Alternative: Grafana Tempo</a:t>
            </a:r>
            <a:endParaRPr lang="en-US" sz="1550" dirty="0"/>
          </a:p>
        </p:txBody>
      </p:sp>
      <p:pic>
        <p:nvPicPr>
          <p:cNvPr id="24" name="Image 2" descr="preencoded.png">    </p:cNvPr>
          <p:cNvPicPr>
            <a:picLocks noChangeAspect="1"/>
          </p:cNvPicPr>
          <p:nvPr/>
        </p:nvPicPr>
        <p:blipFill>
          <a:blip r:embed="rId3"/>
          <a:stretch>
            <a:fillRect/>
          </a:stretch>
        </p:blipFill>
        <p:spPr>
          <a:xfrm>
            <a:off x="7443668" y="2004179"/>
            <a:ext cx="3465671" cy="3465671"/>
          </a:xfrm>
          <a:prstGeom prst="rect">
            <a:avLst/>
          </a:prstGeom>
        </p:spPr>
      </p:pic>
      <p:sp>
        <p:nvSpPr>
          <p:cNvPr id="25" name="Shape 20"/>
          <p:cNvSpPr/>
          <p:nvPr/>
        </p:nvSpPr>
        <p:spPr>
          <a:xfrm>
            <a:off x="7443668" y="5634157"/>
            <a:ext cx="49530" cy="49530"/>
          </a:xfrm>
          <a:prstGeom prst="roundRect">
            <a:avLst>
              <a:gd name="adj" fmla="val 923077"/>
            </a:avLst>
          </a:prstGeom>
          <a:solidFill>
            <a:srgbClr val="8C98CA"/>
          </a:solidFill>
          <a:ln/>
        </p:spPr>
      </p:sp>
      <p:sp>
        <p:nvSpPr>
          <p:cNvPr id="26" name="Text 21"/>
          <p:cNvSpPr/>
          <p:nvPr/>
        </p:nvSpPr>
        <p:spPr>
          <a:xfrm>
            <a:off x="7592378" y="5581412"/>
            <a:ext cx="1376958"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Open-Source Licensing</a:t>
            </a:r>
            <a:endParaRPr lang="en-US" sz="950" dirty="0"/>
          </a:p>
        </p:txBody>
      </p:sp>
      <p:sp>
        <p:nvSpPr>
          <p:cNvPr id="27" name="Text 22"/>
          <p:cNvSpPr/>
          <p:nvPr/>
        </p:nvSpPr>
        <p:spPr>
          <a:xfrm>
            <a:off x="7592378" y="5835610"/>
            <a:ext cx="3316962"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AGPLv3 license with no vendor lock-in or per-trace pricing. Self-hosted deployment provides full control over data residency and retention policies—critical for regulated industries.</a:t>
            </a:r>
            <a:endParaRPr lang="en-US" sz="750" dirty="0"/>
          </a:p>
        </p:txBody>
      </p:sp>
      <p:sp>
        <p:nvSpPr>
          <p:cNvPr id="28" name="Shape 23"/>
          <p:cNvSpPr/>
          <p:nvPr/>
        </p:nvSpPr>
        <p:spPr>
          <a:xfrm>
            <a:off x="7443668" y="6562487"/>
            <a:ext cx="49530" cy="49530"/>
          </a:xfrm>
          <a:prstGeom prst="roundRect">
            <a:avLst>
              <a:gd name="adj" fmla="val 923077"/>
            </a:avLst>
          </a:prstGeom>
          <a:solidFill>
            <a:srgbClr val="8C98CA"/>
          </a:solidFill>
          <a:ln/>
        </p:spPr>
      </p:sp>
      <p:sp>
        <p:nvSpPr>
          <p:cNvPr id="29" name="Text 24"/>
          <p:cNvSpPr/>
          <p:nvPr/>
        </p:nvSpPr>
        <p:spPr>
          <a:xfrm>
            <a:off x="7592378" y="6509742"/>
            <a:ext cx="1383506"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Extreme Scale Capacity</a:t>
            </a:r>
            <a:endParaRPr lang="en-US" sz="950" dirty="0"/>
          </a:p>
        </p:txBody>
      </p:sp>
      <p:sp>
        <p:nvSpPr>
          <p:cNvPr id="30" name="Text 25"/>
          <p:cNvSpPr/>
          <p:nvPr/>
        </p:nvSpPr>
        <p:spPr>
          <a:xfrm>
            <a:off x="7592378" y="6763941"/>
            <a:ext cx="3316962"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Proven at massive scale: Grafana Cloud ingests 27 billion spans per day across 500TB of storage. Distributed architecture supports horizontal scaling to petabyte-scale trace repositories.</a:t>
            </a:r>
            <a:endParaRPr lang="en-US" sz="750" dirty="0"/>
          </a:p>
        </p:txBody>
      </p:sp>
      <p:sp>
        <p:nvSpPr>
          <p:cNvPr id="31" name="Shape 26"/>
          <p:cNvSpPr/>
          <p:nvPr/>
        </p:nvSpPr>
        <p:spPr>
          <a:xfrm>
            <a:off x="7443668" y="7490817"/>
            <a:ext cx="49530" cy="49530"/>
          </a:xfrm>
          <a:prstGeom prst="roundRect">
            <a:avLst>
              <a:gd name="adj" fmla="val 923077"/>
            </a:avLst>
          </a:prstGeom>
          <a:solidFill>
            <a:srgbClr val="8C98CA"/>
          </a:solidFill>
          <a:ln/>
        </p:spPr>
      </p:sp>
      <p:sp>
        <p:nvSpPr>
          <p:cNvPr id="32" name="Text 27"/>
          <p:cNvSpPr/>
          <p:nvPr/>
        </p:nvSpPr>
        <p:spPr>
          <a:xfrm>
            <a:off x="7592378" y="7438073"/>
            <a:ext cx="1699855"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Columnar Storage Efficiency</a:t>
            </a:r>
            <a:endParaRPr lang="en-US" sz="950" dirty="0"/>
          </a:p>
        </p:txBody>
      </p:sp>
      <p:sp>
        <p:nvSpPr>
          <p:cNvPr id="33" name="Text 28"/>
          <p:cNvSpPr/>
          <p:nvPr/>
        </p:nvSpPr>
        <p:spPr>
          <a:xfrm>
            <a:off x="7592378" y="7692271"/>
            <a:ext cx="3316962"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Apache Parquet storage format achieves 5-10% lower S3 costs compared to raw OTLP storage through columnar compression. Enables efficient analytical queries over long retention periods.</a:t>
            </a:r>
            <a:endParaRPr lang="en-US" sz="750" dirty="0"/>
          </a:p>
        </p:txBody>
      </p:sp>
      <p:sp>
        <p:nvSpPr>
          <p:cNvPr id="34" name="Shape 29"/>
          <p:cNvSpPr/>
          <p:nvPr/>
        </p:nvSpPr>
        <p:spPr>
          <a:xfrm>
            <a:off x="7443668" y="8419148"/>
            <a:ext cx="49530" cy="49530"/>
          </a:xfrm>
          <a:prstGeom prst="roundRect">
            <a:avLst>
              <a:gd name="adj" fmla="val 923077"/>
            </a:avLst>
          </a:prstGeom>
          <a:solidFill>
            <a:srgbClr val="8C98CA"/>
          </a:solidFill>
          <a:ln/>
        </p:spPr>
      </p:sp>
      <p:sp>
        <p:nvSpPr>
          <p:cNvPr id="35" name="Text 30"/>
          <p:cNvSpPr/>
          <p:nvPr/>
        </p:nvSpPr>
        <p:spPr>
          <a:xfrm>
            <a:off x="7592378" y="8366403"/>
            <a:ext cx="1361956"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S3-Compatible Storage</a:t>
            </a:r>
            <a:endParaRPr lang="en-US" sz="950" dirty="0"/>
          </a:p>
        </p:txBody>
      </p:sp>
      <p:sp>
        <p:nvSpPr>
          <p:cNvPr id="36" name="Text 31"/>
          <p:cNvSpPr/>
          <p:nvPr/>
        </p:nvSpPr>
        <p:spPr>
          <a:xfrm>
            <a:off x="7592378" y="8620601"/>
            <a:ext cx="3316962"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Works with any S3-compatible object store (AWS S3, MinIO, Ceph, on-premises storage). No proprietary storage tier requirements—leverage existing storage infrastructure and policies.</a:t>
            </a:r>
            <a:endParaRPr lang="en-US" sz="750" dirty="0"/>
          </a:p>
        </p:txBody>
      </p:sp>
      <p:sp>
        <p:nvSpPr>
          <p:cNvPr id="37" name="Shape 32"/>
          <p:cNvSpPr/>
          <p:nvPr/>
        </p:nvSpPr>
        <p:spPr>
          <a:xfrm>
            <a:off x="7443668" y="9207937"/>
            <a:ext cx="3465671" cy="738545"/>
          </a:xfrm>
          <a:prstGeom prst="roundRect">
            <a:avLst>
              <a:gd name="adj" fmla="val 5643"/>
            </a:avLst>
          </a:prstGeom>
          <a:solidFill>
            <a:srgbClr val="181E34"/>
          </a:solidFill>
          <a:ln/>
        </p:spPr>
      </p:sp>
      <p:pic>
        <p:nvPicPr>
          <p:cNvPr id="38" name="Image 3" descr="preencoded.png">    </p:cNvPr>
          <p:cNvPicPr>
            <a:picLocks noChangeAspect="1"/>
          </p:cNvPicPr>
          <p:nvPr/>
        </p:nvPicPr>
        <p:blipFill>
          <a:blip r:embed="rId4"/>
          <a:stretch>
            <a:fillRect/>
          </a:stretch>
        </p:blipFill>
        <p:spPr>
          <a:xfrm>
            <a:off x="7542848" y="9344144"/>
            <a:ext cx="123944" cy="99179"/>
          </a:xfrm>
          <a:prstGeom prst="rect">
            <a:avLst/>
          </a:prstGeom>
        </p:spPr>
      </p:pic>
      <p:sp>
        <p:nvSpPr>
          <p:cNvPr id="39" name="Text 33"/>
          <p:cNvSpPr/>
          <p:nvPr/>
        </p:nvSpPr>
        <p:spPr>
          <a:xfrm>
            <a:off x="7765971" y="9331881"/>
            <a:ext cx="3044190" cy="475774"/>
          </a:xfrm>
          <a:prstGeom prst="rect">
            <a:avLst/>
          </a:prstGeom>
          <a:noFill/>
          <a:ln/>
        </p:spPr>
        <p:txBody>
          <a:bodyPr wrap="square" lIns="0" tIns="0" rIns="0" bIns="0" rtlCol="0" anchor="t"/>
          <a:lstStyle/>
          <a:p>
            <a:pPr algn="l" indent="0" marL="0">
              <a:lnSpc>
                <a:spcPts val="1250"/>
              </a:lnSpc>
              <a:buNone/>
            </a:pPr>
            <a:r>
              <a:rPr lang="en-US" sz="750" b="1" dirty="0">
                <a:solidFill>
                  <a:srgbClr val="FFFFFF"/>
                </a:solidFill>
                <a:latin typeface="Epilogue" pitchFamily="34" charset="0"/>
                <a:ea typeface="Epilogue" pitchFamily="34" charset="-122"/>
                <a:cs typeface="Epilogue" pitchFamily="34" charset="-120"/>
              </a:rPr>
              <a:t>Best Fit:</a:t>
            </a:r>
            <a:pPr algn="l" indent="0" marL="0">
              <a:lnSpc>
                <a:spcPts val="1250"/>
              </a:lnSpc>
              <a:buNone/>
            </a:pPr>
            <a:r>
              <a:rPr lang="en-US" sz="750" dirty="0">
                <a:solidFill>
                  <a:srgbClr val="FFFFFF"/>
                </a:solidFill>
                <a:latin typeface="Epilogue" pitchFamily="34" charset="0"/>
                <a:ea typeface="Epilogue" pitchFamily="34" charset="-122"/>
                <a:cs typeface="Epilogue" pitchFamily="34" charset="-120"/>
              </a:rPr>
              <a:t> Organizations with Grafana expertise, multi-cloud strategies, high-volume requirements exceeding AWS X-Ray free tier economics, or strict data sovereignty requirements.</a:t>
            </a:r>
            <a:endParaRPr lang="en-US" sz="750" dirty="0"/>
          </a:p>
        </p:txBody>
      </p:sp>
      <p:sp>
        <p:nvSpPr>
          <p:cNvPr id="40" name="Text 34"/>
          <p:cNvSpPr/>
          <p:nvPr/>
        </p:nvSpPr>
        <p:spPr>
          <a:xfrm>
            <a:off x="3728442" y="10772061"/>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FFFFFF"/>
                </a:solidFill>
                <a:latin typeface="Fraunces Medium" pitchFamily="34" charset="0"/>
                <a:ea typeface="Fraunces Medium" pitchFamily="34" charset="-122"/>
                <a:cs typeface="Fraunces Medium" pitchFamily="34" charset="-120"/>
              </a:rPr>
              <a:t>Decision Matrix</a:t>
            </a:r>
            <a:endParaRPr lang="en-US" sz="1150" dirty="0"/>
          </a:p>
        </p:txBody>
      </p:sp>
      <p:sp>
        <p:nvSpPr>
          <p:cNvPr id="41" name="Shape 35"/>
          <p:cNvSpPr/>
          <p:nvPr/>
        </p:nvSpPr>
        <p:spPr>
          <a:xfrm>
            <a:off x="3728442" y="11106864"/>
            <a:ext cx="7173397" cy="1772603"/>
          </a:xfrm>
          <a:prstGeom prst="roundRect">
            <a:avLst>
              <a:gd name="adj" fmla="val 2351"/>
            </a:avLst>
          </a:prstGeom>
          <a:noFill/>
          <a:ln w="7620">
            <a:solidFill>
              <a:srgbClr val="FFFFFF">
                <a:alpha val="24000"/>
              </a:srgbClr>
            </a:solidFill>
            <a:prstDash val="solid"/>
          </a:ln>
        </p:spPr>
      </p:sp>
      <p:sp>
        <p:nvSpPr>
          <p:cNvPr id="42" name="Shape 36"/>
          <p:cNvSpPr/>
          <p:nvPr/>
        </p:nvSpPr>
        <p:spPr>
          <a:xfrm>
            <a:off x="3736062" y="11114484"/>
            <a:ext cx="7158157" cy="292894"/>
          </a:xfrm>
          <a:prstGeom prst="rect">
            <a:avLst/>
          </a:prstGeom>
          <a:solidFill>
            <a:srgbClr val="FFFFFF">
              <a:alpha val="4000"/>
            </a:srgbClr>
          </a:solidFill>
          <a:ln/>
        </p:spPr>
      </p:sp>
      <p:sp>
        <p:nvSpPr>
          <p:cNvPr id="43" name="Text 37"/>
          <p:cNvSpPr/>
          <p:nvPr/>
        </p:nvSpPr>
        <p:spPr>
          <a:xfrm>
            <a:off x="3835360" y="11181636"/>
            <a:ext cx="1945243"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Criteria</a:t>
            </a:r>
            <a:endParaRPr lang="en-US" sz="750" dirty="0"/>
          </a:p>
        </p:txBody>
      </p:sp>
      <p:sp>
        <p:nvSpPr>
          <p:cNvPr id="44" name="Text 38"/>
          <p:cNvSpPr/>
          <p:nvPr/>
        </p:nvSpPr>
        <p:spPr>
          <a:xfrm>
            <a:off x="5986582" y="11181636"/>
            <a:ext cx="2299335"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AWS X-Ray</a:t>
            </a:r>
            <a:endParaRPr lang="en-US" sz="750" dirty="0"/>
          </a:p>
        </p:txBody>
      </p:sp>
      <p:sp>
        <p:nvSpPr>
          <p:cNvPr id="45" name="Text 39"/>
          <p:cNvSpPr/>
          <p:nvPr/>
        </p:nvSpPr>
        <p:spPr>
          <a:xfrm>
            <a:off x="8491895" y="11181636"/>
            <a:ext cx="2303145"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Grafana Tempo</a:t>
            </a:r>
            <a:endParaRPr lang="en-US" sz="750" dirty="0"/>
          </a:p>
        </p:txBody>
      </p:sp>
      <p:sp>
        <p:nvSpPr>
          <p:cNvPr id="46" name="Shape 40"/>
          <p:cNvSpPr/>
          <p:nvPr/>
        </p:nvSpPr>
        <p:spPr>
          <a:xfrm>
            <a:off x="3736062" y="11407378"/>
            <a:ext cx="7158157" cy="292894"/>
          </a:xfrm>
          <a:prstGeom prst="rect">
            <a:avLst/>
          </a:prstGeom>
          <a:solidFill>
            <a:srgbClr val="000000">
              <a:alpha val="4000"/>
            </a:srgbClr>
          </a:solidFill>
          <a:ln/>
        </p:spPr>
      </p:sp>
      <p:sp>
        <p:nvSpPr>
          <p:cNvPr id="47" name="Text 41"/>
          <p:cNvSpPr/>
          <p:nvPr/>
        </p:nvSpPr>
        <p:spPr>
          <a:xfrm>
            <a:off x="3835360" y="11474529"/>
            <a:ext cx="1945243"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Setup Complexity</a:t>
            </a:r>
            <a:endParaRPr lang="en-US" sz="750" dirty="0"/>
          </a:p>
        </p:txBody>
      </p:sp>
      <p:sp>
        <p:nvSpPr>
          <p:cNvPr id="48" name="Text 42"/>
          <p:cNvSpPr/>
          <p:nvPr/>
        </p:nvSpPr>
        <p:spPr>
          <a:xfrm>
            <a:off x="5986582" y="11474529"/>
            <a:ext cx="229933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Low (managed service)</a:t>
            </a:r>
            <a:endParaRPr lang="en-US" sz="750" dirty="0"/>
          </a:p>
        </p:txBody>
      </p:sp>
      <p:sp>
        <p:nvSpPr>
          <p:cNvPr id="49" name="Text 43"/>
          <p:cNvSpPr/>
          <p:nvPr/>
        </p:nvSpPr>
        <p:spPr>
          <a:xfrm>
            <a:off x="8491895" y="11474529"/>
            <a:ext cx="230314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Medium (self-hosted k8s)</a:t>
            </a:r>
            <a:endParaRPr lang="en-US" sz="750" dirty="0"/>
          </a:p>
        </p:txBody>
      </p:sp>
      <p:sp>
        <p:nvSpPr>
          <p:cNvPr id="50" name="Shape 44"/>
          <p:cNvSpPr/>
          <p:nvPr/>
        </p:nvSpPr>
        <p:spPr>
          <a:xfrm>
            <a:off x="3736062" y="11700272"/>
            <a:ext cx="7158157" cy="292894"/>
          </a:xfrm>
          <a:prstGeom prst="rect">
            <a:avLst/>
          </a:prstGeom>
          <a:solidFill>
            <a:srgbClr val="FFFFFF">
              <a:alpha val="4000"/>
            </a:srgbClr>
          </a:solidFill>
          <a:ln/>
        </p:spPr>
      </p:sp>
      <p:sp>
        <p:nvSpPr>
          <p:cNvPr id="51" name="Text 45"/>
          <p:cNvSpPr/>
          <p:nvPr/>
        </p:nvSpPr>
        <p:spPr>
          <a:xfrm>
            <a:off x="3835360" y="11767423"/>
            <a:ext cx="1945243"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Operating Cost</a:t>
            </a:r>
            <a:endParaRPr lang="en-US" sz="750" dirty="0"/>
          </a:p>
        </p:txBody>
      </p:sp>
      <p:sp>
        <p:nvSpPr>
          <p:cNvPr id="52" name="Text 46"/>
          <p:cNvSpPr/>
          <p:nvPr/>
        </p:nvSpPr>
        <p:spPr>
          <a:xfrm>
            <a:off x="5986582" y="11767423"/>
            <a:ext cx="229933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$500-2000/month at scale</a:t>
            </a:r>
            <a:endParaRPr lang="en-US" sz="750" dirty="0"/>
          </a:p>
        </p:txBody>
      </p:sp>
      <p:sp>
        <p:nvSpPr>
          <p:cNvPr id="53" name="Text 47"/>
          <p:cNvSpPr/>
          <p:nvPr/>
        </p:nvSpPr>
        <p:spPr>
          <a:xfrm>
            <a:off x="8491895" y="11767423"/>
            <a:ext cx="230314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$200-800/month (compute + storage)</a:t>
            </a:r>
            <a:endParaRPr lang="en-US" sz="750" dirty="0"/>
          </a:p>
        </p:txBody>
      </p:sp>
      <p:sp>
        <p:nvSpPr>
          <p:cNvPr id="54" name="Shape 48"/>
          <p:cNvSpPr/>
          <p:nvPr/>
        </p:nvSpPr>
        <p:spPr>
          <a:xfrm>
            <a:off x="3736062" y="11993166"/>
            <a:ext cx="7158157" cy="292894"/>
          </a:xfrm>
          <a:prstGeom prst="rect">
            <a:avLst/>
          </a:prstGeom>
          <a:solidFill>
            <a:srgbClr val="000000">
              <a:alpha val="4000"/>
            </a:srgbClr>
          </a:solidFill>
          <a:ln/>
        </p:spPr>
      </p:sp>
      <p:sp>
        <p:nvSpPr>
          <p:cNvPr id="55" name="Text 49"/>
          <p:cNvSpPr/>
          <p:nvPr/>
        </p:nvSpPr>
        <p:spPr>
          <a:xfrm>
            <a:off x="3835360" y="12060317"/>
            <a:ext cx="1945243"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Query Latency</a:t>
            </a:r>
            <a:endParaRPr lang="en-US" sz="750" dirty="0"/>
          </a:p>
        </p:txBody>
      </p:sp>
      <p:sp>
        <p:nvSpPr>
          <p:cNvPr id="56" name="Text 50"/>
          <p:cNvSpPr/>
          <p:nvPr/>
        </p:nvSpPr>
        <p:spPr>
          <a:xfrm>
            <a:off x="5986582" y="12060317"/>
            <a:ext cx="229933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Sub-second (optimized indexes)</a:t>
            </a:r>
            <a:endParaRPr lang="en-US" sz="750" dirty="0"/>
          </a:p>
        </p:txBody>
      </p:sp>
      <p:sp>
        <p:nvSpPr>
          <p:cNvPr id="57" name="Text 51"/>
          <p:cNvSpPr/>
          <p:nvPr/>
        </p:nvSpPr>
        <p:spPr>
          <a:xfrm>
            <a:off x="8491895" y="12060317"/>
            <a:ext cx="230314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1-5 seconds (object store scans)</a:t>
            </a:r>
            <a:endParaRPr lang="en-US" sz="750" dirty="0"/>
          </a:p>
        </p:txBody>
      </p:sp>
      <p:sp>
        <p:nvSpPr>
          <p:cNvPr id="58" name="Shape 52"/>
          <p:cNvSpPr/>
          <p:nvPr/>
        </p:nvSpPr>
        <p:spPr>
          <a:xfrm>
            <a:off x="3736062" y="12286059"/>
            <a:ext cx="7158157" cy="292894"/>
          </a:xfrm>
          <a:prstGeom prst="rect">
            <a:avLst/>
          </a:prstGeom>
          <a:solidFill>
            <a:srgbClr val="FFFFFF">
              <a:alpha val="4000"/>
            </a:srgbClr>
          </a:solidFill>
          <a:ln/>
        </p:spPr>
      </p:sp>
      <p:sp>
        <p:nvSpPr>
          <p:cNvPr id="59" name="Text 53"/>
          <p:cNvSpPr/>
          <p:nvPr/>
        </p:nvSpPr>
        <p:spPr>
          <a:xfrm>
            <a:off x="3835360" y="12353211"/>
            <a:ext cx="1945243"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Vendor Lock-in</a:t>
            </a:r>
            <a:endParaRPr lang="en-US" sz="750" dirty="0"/>
          </a:p>
        </p:txBody>
      </p:sp>
      <p:sp>
        <p:nvSpPr>
          <p:cNvPr id="60" name="Text 54"/>
          <p:cNvSpPr/>
          <p:nvPr/>
        </p:nvSpPr>
        <p:spPr>
          <a:xfrm>
            <a:off x="5986582" y="12353211"/>
            <a:ext cx="229933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AWS ecosystem only</a:t>
            </a:r>
            <a:endParaRPr lang="en-US" sz="750" dirty="0"/>
          </a:p>
        </p:txBody>
      </p:sp>
      <p:sp>
        <p:nvSpPr>
          <p:cNvPr id="61" name="Text 55"/>
          <p:cNvSpPr/>
          <p:nvPr/>
        </p:nvSpPr>
        <p:spPr>
          <a:xfrm>
            <a:off x="8491895" y="12353211"/>
            <a:ext cx="230314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Portable, multi-cloud</a:t>
            </a:r>
            <a:endParaRPr lang="en-US" sz="750" dirty="0"/>
          </a:p>
        </p:txBody>
      </p:sp>
      <p:sp>
        <p:nvSpPr>
          <p:cNvPr id="62" name="Shape 56"/>
          <p:cNvSpPr/>
          <p:nvPr/>
        </p:nvSpPr>
        <p:spPr>
          <a:xfrm>
            <a:off x="3736062" y="12578953"/>
            <a:ext cx="7158157" cy="292894"/>
          </a:xfrm>
          <a:prstGeom prst="rect">
            <a:avLst/>
          </a:prstGeom>
          <a:solidFill>
            <a:srgbClr val="000000">
              <a:alpha val="4000"/>
            </a:srgbClr>
          </a:solidFill>
          <a:ln/>
        </p:spPr>
      </p:sp>
      <p:sp>
        <p:nvSpPr>
          <p:cNvPr id="63" name="Text 57"/>
          <p:cNvSpPr/>
          <p:nvPr/>
        </p:nvSpPr>
        <p:spPr>
          <a:xfrm>
            <a:off x="3835360" y="12646104"/>
            <a:ext cx="1945243"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Trace Retention</a:t>
            </a:r>
            <a:endParaRPr lang="en-US" sz="750" dirty="0"/>
          </a:p>
        </p:txBody>
      </p:sp>
      <p:sp>
        <p:nvSpPr>
          <p:cNvPr id="64" name="Text 58"/>
          <p:cNvSpPr/>
          <p:nvPr/>
        </p:nvSpPr>
        <p:spPr>
          <a:xfrm>
            <a:off x="5986582" y="12646104"/>
            <a:ext cx="229933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30 days maximum</a:t>
            </a:r>
            <a:endParaRPr lang="en-US" sz="750" dirty="0"/>
          </a:p>
        </p:txBody>
      </p:sp>
      <p:sp>
        <p:nvSpPr>
          <p:cNvPr id="65" name="Text 59"/>
          <p:cNvSpPr/>
          <p:nvPr/>
        </p:nvSpPr>
        <p:spPr>
          <a:xfrm>
            <a:off x="8491895" y="12646104"/>
            <a:ext cx="2303145"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Unlimited (S3 lifecycle policies)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728442" y="272891"/>
            <a:ext cx="933331" cy="186571"/>
          </a:xfrm>
          <a:prstGeom prst="roundRect">
            <a:avLst>
              <a:gd name="adj" fmla="val 17872"/>
            </a:avLst>
          </a:prstGeom>
          <a:solidFill>
            <a:srgbClr val="181E34"/>
          </a:solidFill>
          <a:ln/>
        </p:spPr>
      </p:sp>
      <p:sp>
        <p:nvSpPr>
          <p:cNvPr id="3" name="Text 1"/>
          <p:cNvSpPr/>
          <p:nvPr/>
        </p:nvSpPr>
        <p:spPr>
          <a:xfrm>
            <a:off x="3787973" y="302657"/>
            <a:ext cx="814268" cy="127040"/>
          </a:xfrm>
          <a:prstGeom prst="rect">
            <a:avLst/>
          </a:prstGeom>
          <a:noFill/>
          <a:ln/>
        </p:spPr>
        <p:txBody>
          <a:bodyPr wrap="none" lIns="0" tIns="0" rIns="0" bIns="0" rtlCol="0" anchor="t"/>
          <a:lstStyle/>
          <a:p>
            <a:pPr algn="l" indent="0" marL="0">
              <a:lnSpc>
                <a:spcPts val="1000"/>
              </a:lnSpc>
              <a:buNone/>
            </a:pPr>
            <a:r>
              <a:rPr lang="en-US" sz="600" dirty="0">
                <a:solidFill>
                  <a:srgbClr val="EBECEF"/>
                </a:solidFill>
                <a:latin typeface="Epilogue" pitchFamily="34" charset="0"/>
                <a:ea typeface="Epilogue" pitchFamily="34" charset="-122"/>
                <a:cs typeface="Epilogue" pitchFamily="34" charset="-120"/>
              </a:rPr>
              <a:t>ARCHITECTURE LAYERS</a:t>
            </a:r>
            <a:endParaRPr lang="en-US" sz="600" dirty="0"/>
          </a:p>
        </p:txBody>
      </p:sp>
      <p:sp>
        <p:nvSpPr>
          <p:cNvPr id="4" name="Text 2"/>
          <p:cNvSpPr/>
          <p:nvPr/>
        </p:nvSpPr>
        <p:spPr>
          <a:xfrm>
            <a:off x="3728442" y="499110"/>
            <a:ext cx="3423642"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Fraunces Medium" pitchFamily="34" charset="0"/>
                <a:ea typeface="Fraunces Medium" pitchFamily="34" charset="-122"/>
                <a:cs typeface="Fraunces Medium" pitchFamily="34" charset="-120"/>
              </a:rPr>
              <a:t>Six-Tier System Architecture</a:t>
            </a:r>
            <a:endParaRPr lang="en-US" sz="1950" dirty="0"/>
          </a:p>
        </p:txBody>
      </p:sp>
      <p:sp>
        <p:nvSpPr>
          <p:cNvPr id="5" name="Text 3"/>
          <p:cNvSpPr/>
          <p:nvPr/>
        </p:nvSpPr>
        <p:spPr>
          <a:xfrm>
            <a:off x="3728442" y="958096"/>
            <a:ext cx="7173397"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The integration architecture follows a layered design pattern that cleanly separates concerns: data sourcing from legacy systems, collection and staging, protocol transformation, reliable transport, backend storage, and visualization. This separation enables independent scaling, testing, and maintenance of each tier.</a:t>
            </a:r>
            <a:endParaRPr lang="en-US" sz="750" dirty="0"/>
          </a:p>
        </p:txBody>
      </p:sp>
      <p:sp>
        <p:nvSpPr>
          <p:cNvPr id="6" name="Text 4"/>
          <p:cNvSpPr/>
          <p:nvPr/>
        </p:nvSpPr>
        <p:spPr>
          <a:xfrm>
            <a:off x="3728442" y="1545431"/>
            <a:ext cx="99179" cy="123944"/>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Fraunces Light" pitchFamily="34" charset="0"/>
                <a:ea typeface="Fraunces Light" pitchFamily="34" charset="-122"/>
                <a:cs typeface="Fraunces Light" pitchFamily="34" charset="-120"/>
              </a:rPr>
              <a:t>01</a:t>
            </a:r>
            <a:endParaRPr lang="en-US" sz="750" dirty="0"/>
          </a:p>
        </p:txBody>
      </p:sp>
      <p:sp>
        <p:nvSpPr>
          <p:cNvPr id="7" name="Shape 5"/>
          <p:cNvSpPr/>
          <p:nvPr/>
        </p:nvSpPr>
        <p:spPr>
          <a:xfrm>
            <a:off x="3728442" y="1698665"/>
            <a:ext cx="3537109" cy="15240"/>
          </a:xfrm>
          <a:prstGeom prst="rect">
            <a:avLst/>
          </a:prstGeom>
          <a:solidFill>
            <a:srgbClr val="8C98CA"/>
          </a:solidFill>
          <a:ln/>
        </p:spPr>
      </p:sp>
      <p:sp>
        <p:nvSpPr>
          <p:cNvPr id="8" name="Text 6"/>
          <p:cNvSpPr/>
          <p:nvPr/>
        </p:nvSpPr>
        <p:spPr>
          <a:xfrm>
            <a:off x="3728442" y="1778675"/>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Data Source Layer</a:t>
            </a:r>
            <a:endParaRPr lang="en-US" sz="1150" dirty="0"/>
          </a:p>
        </p:txBody>
      </p:sp>
      <p:sp>
        <p:nvSpPr>
          <p:cNvPr id="9" name="Text 7"/>
          <p:cNvSpPr/>
          <p:nvPr/>
        </p:nvSpPr>
        <p:spPr>
          <a:xfrm>
            <a:off x="3728442" y="2024182"/>
            <a:ext cx="3537109" cy="634365"/>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AS/400 RPG applications, CL programs, and DB2 for i databases generating transaction logs. Physical files (PF) in QSYS and user-defined libraries contain transaction records in EBCDIC format with fixed-field layouts.</a:t>
            </a:r>
            <a:endParaRPr lang="en-US" sz="750" dirty="0"/>
          </a:p>
        </p:txBody>
      </p:sp>
      <p:sp>
        <p:nvSpPr>
          <p:cNvPr id="10" name="Text 8"/>
          <p:cNvSpPr/>
          <p:nvPr/>
        </p:nvSpPr>
        <p:spPr>
          <a:xfrm>
            <a:off x="7364730" y="1545431"/>
            <a:ext cx="99179" cy="123944"/>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Fraunces Light" pitchFamily="34" charset="0"/>
                <a:ea typeface="Fraunces Light" pitchFamily="34" charset="-122"/>
                <a:cs typeface="Fraunces Light" pitchFamily="34" charset="-120"/>
              </a:rPr>
              <a:t>02</a:t>
            </a:r>
            <a:endParaRPr lang="en-US" sz="750" dirty="0"/>
          </a:p>
        </p:txBody>
      </p:sp>
      <p:sp>
        <p:nvSpPr>
          <p:cNvPr id="11" name="Shape 9"/>
          <p:cNvSpPr/>
          <p:nvPr/>
        </p:nvSpPr>
        <p:spPr>
          <a:xfrm>
            <a:off x="7364730" y="1698665"/>
            <a:ext cx="3537109" cy="15240"/>
          </a:xfrm>
          <a:prstGeom prst="rect">
            <a:avLst/>
          </a:prstGeom>
          <a:solidFill>
            <a:srgbClr val="8C98CA"/>
          </a:solidFill>
          <a:ln/>
        </p:spPr>
      </p:sp>
      <p:sp>
        <p:nvSpPr>
          <p:cNvPr id="12" name="Text 10"/>
          <p:cNvSpPr/>
          <p:nvPr/>
        </p:nvSpPr>
        <p:spPr>
          <a:xfrm>
            <a:off x="7364730" y="1778675"/>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Collection Layer</a:t>
            </a:r>
            <a:endParaRPr lang="en-US" sz="1150" dirty="0"/>
          </a:p>
        </p:txBody>
      </p:sp>
      <p:sp>
        <p:nvSpPr>
          <p:cNvPr id="13" name="Text 11"/>
          <p:cNvSpPr/>
          <p:nvPr/>
        </p:nvSpPr>
        <p:spPr>
          <a:xfrm>
            <a:off x="7364730" y="2024182"/>
            <a:ext cx="3537109" cy="634365"/>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Native AS/400 daemon program (RPG/CL) scheduled via job scheduler (WRKJOBSCDE) to poll physical files and execute DB2 queries at configurable intervals. Implements cursor-based pagination for incremental extraction.</a:t>
            </a:r>
            <a:endParaRPr lang="en-US" sz="750" dirty="0"/>
          </a:p>
        </p:txBody>
      </p:sp>
      <p:sp>
        <p:nvSpPr>
          <p:cNvPr id="14" name="Text 12"/>
          <p:cNvSpPr/>
          <p:nvPr/>
        </p:nvSpPr>
        <p:spPr>
          <a:xfrm>
            <a:off x="3728442" y="2832140"/>
            <a:ext cx="99179" cy="123944"/>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Fraunces Light" pitchFamily="34" charset="0"/>
                <a:ea typeface="Fraunces Light" pitchFamily="34" charset="-122"/>
                <a:cs typeface="Fraunces Light" pitchFamily="34" charset="-120"/>
              </a:rPr>
              <a:t>03</a:t>
            </a:r>
            <a:endParaRPr lang="en-US" sz="750" dirty="0"/>
          </a:p>
        </p:txBody>
      </p:sp>
      <p:sp>
        <p:nvSpPr>
          <p:cNvPr id="15" name="Shape 13"/>
          <p:cNvSpPr/>
          <p:nvPr/>
        </p:nvSpPr>
        <p:spPr>
          <a:xfrm>
            <a:off x="3728442" y="2985373"/>
            <a:ext cx="3537109" cy="15240"/>
          </a:xfrm>
          <a:prstGeom prst="rect">
            <a:avLst/>
          </a:prstGeom>
          <a:solidFill>
            <a:srgbClr val="8C98CA"/>
          </a:solidFill>
          <a:ln/>
        </p:spPr>
      </p:sp>
      <p:sp>
        <p:nvSpPr>
          <p:cNvPr id="16" name="Text 14"/>
          <p:cNvSpPr/>
          <p:nvPr/>
        </p:nvSpPr>
        <p:spPr>
          <a:xfrm>
            <a:off x="3728442" y="3065383"/>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Processing Layer</a:t>
            </a:r>
            <a:endParaRPr lang="en-US" sz="1150" dirty="0"/>
          </a:p>
        </p:txBody>
      </p:sp>
      <p:sp>
        <p:nvSpPr>
          <p:cNvPr id="17" name="Text 15"/>
          <p:cNvSpPr/>
          <p:nvPr/>
        </p:nvSpPr>
        <p:spPr>
          <a:xfrm>
            <a:off x="3728442" y="3310890"/>
            <a:ext cx="3537109"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iSeries-Otel-Bridge Java application running on JVM (OpenJDK 11+) with JT400 toolkit. Performs EBCDIC conversion, field parsing, OTLP proto message construction, and semantic attribute enrichment.</a:t>
            </a:r>
            <a:endParaRPr lang="en-US" sz="750" dirty="0"/>
          </a:p>
        </p:txBody>
      </p:sp>
      <p:sp>
        <p:nvSpPr>
          <p:cNvPr id="18" name="Text 16"/>
          <p:cNvSpPr/>
          <p:nvPr/>
        </p:nvSpPr>
        <p:spPr>
          <a:xfrm>
            <a:off x="7364730" y="2832140"/>
            <a:ext cx="99179" cy="123944"/>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Fraunces Light" pitchFamily="34" charset="0"/>
                <a:ea typeface="Fraunces Light" pitchFamily="34" charset="-122"/>
                <a:cs typeface="Fraunces Light" pitchFamily="34" charset="-120"/>
              </a:rPr>
              <a:t>04</a:t>
            </a:r>
            <a:endParaRPr lang="en-US" sz="750" dirty="0"/>
          </a:p>
        </p:txBody>
      </p:sp>
      <p:sp>
        <p:nvSpPr>
          <p:cNvPr id="19" name="Shape 17"/>
          <p:cNvSpPr/>
          <p:nvPr/>
        </p:nvSpPr>
        <p:spPr>
          <a:xfrm>
            <a:off x="7364730" y="2985373"/>
            <a:ext cx="3537109" cy="15240"/>
          </a:xfrm>
          <a:prstGeom prst="rect">
            <a:avLst/>
          </a:prstGeom>
          <a:solidFill>
            <a:srgbClr val="8C98CA"/>
          </a:solidFill>
          <a:ln/>
        </p:spPr>
      </p:sp>
      <p:sp>
        <p:nvSpPr>
          <p:cNvPr id="20" name="Text 18"/>
          <p:cNvSpPr/>
          <p:nvPr/>
        </p:nvSpPr>
        <p:spPr>
          <a:xfrm>
            <a:off x="7364730" y="3065383"/>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Transport Layer</a:t>
            </a:r>
            <a:endParaRPr lang="en-US" sz="1150" dirty="0"/>
          </a:p>
        </p:txBody>
      </p:sp>
      <p:sp>
        <p:nvSpPr>
          <p:cNvPr id="21" name="Text 19"/>
          <p:cNvSpPr/>
          <p:nvPr/>
        </p:nvSpPr>
        <p:spPr>
          <a:xfrm>
            <a:off x="7364730" y="3310890"/>
            <a:ext cx="3537109"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Dual-path transmission: OTLP/gRPC for real-time streaming to backend collector (4317/tcp), plus batch S3 uploads for fault tolerance and replay capability. TLS 1.3 encryption for all network traffic.</a:t>
            </a:r>
            <a:endParaRPr lang="en-US" sz="750" dirty="0"/>
          </a:p>
        </p:txBody>
      </p:sp>
      <p:sp>
        <p:nvSpPr>
          <p:cNvPr id="22" name="Text 20"/>
          <p:cNvSpPr/>
          <p:nvPr/>
        </p:nvSpPr>
        <p:spPr>
          <a:xfrm>
            <a:off x="3728442" y="3960257"/>
            <a:ext cx="99179" cy="123944"/>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Fraunces Light" pitchFamily="34" charset="0"/>
                <a:ea typeface="Fraunces Light" pitchFamily="34" charset="-122"/>
                <a:cs typeface="Fraunces Light" pitchFamily="34" charset="-120"/>
              </a:rPr>
              <a:t>05</a:t>
            </a:r>
            <a:endParaRPr lang="en-US" sz="750" dirty="0"/>
          </a:p>
        </p:txBody>
      </p:sp>
      <p:sp>
        <p:nvSpPr>
          <p:cNvPr id="23" name="Shape 21"/>
          <p:cNvSpPr/>
          <p:nvPr/>
        </p:nvSpPr>
        <p:spPr>
          <a:xfrm>
            <a:off x="3728442" y="4113490"/>
            <a:ext cx="3537109" cy="15240"/>
          </a:xfrm>
          <a:prstGeom prst="rect">
            <a:avLst/>
          </a:prstGeom>
          <a:solidFill>
            <a:srgbClr val="8C98CA"/>
          </a:solidFill>
          <a:ln/>
        </p:spPr>
      </p:sp>
      <p:sp>
        <p:nvSpPr>
          <p:cNvPr id="24" name="Text 22"/>
          <p:cNvSpPr/>
          <p:nvPr/>
        </p:nvSpPr>
        <p:spPr>
          <a:xfrm>
            <a:off x="3728442" y="4193500"/>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Backend Layer</a:t>
            </a:r>
            <a:endParaRPr lang="en-US" sz="1150" dirty="0"/>
          </a:p>
        </p:txBody>
      </p:sp>
      <p:sp>
        <p:nvSpPr>
          <p:cNvPr id="25" name="Text 23"/>
          <p:cNvSpPr/>
          <p:nvPr/>
        </p:nvSpPr>
        <p:spPr>
          <a:xfrm>
            <a:off x="3728442" y="4439007"/>
            <a:ext cx="3537109"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AWS X-Ray or Grafana Tempo cluster with OTLP ingestion endpoints. Includes CloudWatch Logs for application logging, CloudWatch Metrics for system health, and S3 for long-term trace archive storage.</a:t>
            </a:r>
            <a:endParaRPr lang="en-US" sz="750" dirty="0"/>
          </a:p>
        </p:txBody>
      </p:sp>
      <p:sp>
        <p:nvSpPr>
          <p:cNvPr id="26" name="Text 24"/>
          <p:cNvSpPr/>
          <p:nvPr/>
        </p:nvSpPr>
        <p:spPr>
          <a:xfrm>
            <a:off x="7364730" y="3960257"/>
            <a:ext cx="99179" cy="123944"/>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Fraunces Light" pitchFamily="34" charset="0"/>
                <a:ea typeface="Fraunces Light" pitchFamily="34" charset="-122"/>
                <a:cs typeface="Fraunces Light" pitchFamily="34" charset="-120"/>
              </a:rPr>
              <a:t>06</a:t>
            </a:r>
            <a:endParaRPr lang="en-US" sz="750" dirty="0"/>
          </a:p>
        </p:txBody>
      </p:sp>
      <p:sp>
        <p:nvSpPr>
          <p:cNvPr id="27" name="Shape 25"/>
          <p:cNvSpPr/>
          <p:nvPr/>
        </p:nvSpPr>
        <p:spPr>
          <a:xfrm>
            <a:off x="7364730" y="4113490"/>
            <a:ext cx="3537109" cy="15240"/>
          </a:xfrm>
          <a:prstGeom prst="rect">
            <a:avLst/>
          </a:prstGeom>
          <a:solidFill>
            <a:srgbClr val="8C98CA"/>
          </a:solidFill>
          <a:ln/>
        </p:spPr>
      </p:sp>
      <p:sp>
        <p:nvSpPr>
          <p:cNvPr id="28" name="Text 26"/>
          <p:cNvSpPr/>
          <p:nvPr/>
        </p:nvSpPr>
        <p:spPr>
          <a:xfrm>
            <a:off x="7364730" y="4193500"/>
            <a:ext cx="148851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Visualization Layer</a:t>
            </a:r>
            <a:endParaRPr lang="en-US" sz="1150" dirty="0"/>
          </a:p>
        </p:txBody>
      </p:sp>
      <p:sp>
        <p:nvSpPr>
          <p:cNvPr id="29" name="Text 27"/>
          <p:cNvSpPr/>
          <p:nvPr/>
        </p:nvSpPr>
        <p:spPr>
          <a:xfrm>
            <a:off x="7364730" y="4439007"/>
            <a:ext cx="3537109" cy="475774"/>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AWS X-Ray Console for service maps and trace timelines, plus Grafana dashboards for custom queries and alerting. Integration with PagerDuty or Opsgenie for incident response workflows.</a:t>
            </a:r>
            <a:endParaRPr lang="en-US" sz="750" dirty="0"/>
          </a:p>
        </p:txBody>
      </p:sp>
      <p:sp>
        <p:nvSpPr>
          <p:cNvPr id="30" name="Text 28"/>
          <p:cNvSpPr/>
          <p:nvPr/>
        </p:nvSpPr>
        <p:spPr>
          <a:xfrm>
            <a:off x="3728442" y="5138023"/>
            <a:ext cx="1992273" cy="185976"/>
          </a:xfrm>
          <a:prstGeom prst="rect">
            <a:avLst/>
          </a:prstGeom>
          <a:noFill/>
          <a:ln/>
        </p:spPr>
        <p:txBody>
          <a:bodyPr wrap="none" lIns="0" tIns="0" rIns="0" bIns="0" rtlCol="0" anchor="t"/>
          <a:lstStyle/>
          <a:p>
            <a:pPr algn="l" indent="0" marL="0">
              <a:lnSpc>
                <a:spcPts val="1450"/>
              </a:lnSpc>
              <a:buNone/>
            </a:pPr>
            <a:r>
              <a:rPr lang="en-US" sz="1150" dirty="0">
                <a:solidFill>
                  <a:srgbClr val="FFFFFF"/>
                </a:solidFill>
                <a:latin typeface="Fraunces Medium" pitchFamily="34" charset="0"/>
                <a:ea typeface="Fraunces Medium" pitchFamily="34" charset="-122"/>
                <a:cs typeface="Fraunces Medium" pitchFamily="34" charset="-120"/>
              </a:rPr>
              <a:t>Data Flow &amp; Latency Budget</a:t>
            </a:r>
            <a:endParaRPr lang="en-US" sz="1150" dirty="0"/>
          </a:p>
        </p:txBody>
      </p:sp>
      <p:sp>
        <p:nvSpPr>
          <p:cNvPr id="31" name="Shape 29"/>
          <p:cNvSpPr/>
          <p:nvPr/>
        </p:nvSpPr>
        <p:spPr>
          <a:xfrm>
            <a:off x="7307461" y="5472827"/>
            <a:ext cx="15240" cy="2961561"/>
          </a:xfrm>
          <a:prstGeom prst="roundRect">
            <a:avLst>
              <a:gd name="adj" fmla="val 273488"/>
            </a:avLst>
          </a:prstGeom>
          <a:solidFill>
            <a:srgbClr val="414A70"/>
          </a:solidFill>
          <a:ln/>
        </p:spPr>
      </p:sp>
      <p:sp>
        <p:nvSpPr>
          <p:cNvPr id="32" name="Shape 30"/>
          <p:cNvSpPr/>
          <p:nvPr/>
        </p:nvSpPr>
        <p:spPr>
          <a:xfrm>
            <a:off x="6921044" y="5576768"/>
            <a:ext cx="297656" cy="15240"/>
          </a:xfrm>
          <a:prstGeom prst="roundRect">
            <a:avLst>
              <a:gd name="adj" fmla="val 273488"/>
            </a:avLst>
          </a:prstGeom>
          <a:solidFill>
            <a:srgbClr val="414A70"/>
          </a:solidFill>
          <a:ln/>
        </p:spPr>
      </p:sp>
      <p:sp>
        <p:nvSpPr>
          <p:cNvPr id="33" name="Shape 31"/>
          <p:cNvSpPr/>
          <p:nvPr/>
        </p:nvSpPr>
        <p:spPr>
          <a:xfrm>
            <a:off x="7203460" y="5472827"/>
            <a:ext cx="223242" cy="223242"/>
          </a:xfrm>
          <a:prstGeom prst="roundRect">
            <a:avLst>
              <a:gd name="adj" fmla="val 18670"/>
            </a:avLst>
          </a:prstGeom>
          <a:solidFill>
            <a:srgbClr val="283157"/>
          </a:solidFill>
          <a:ln w="7620">
            <a:solidFill>
              <a:srgbClr val="414A70"/>
            </a:solidFill>
            <a:prstDash val="solid"/>
          </a:ln>
        </p:spPr>
      </p:sp>
      <p:sp>
        <p:nvSpPr>
          <p:cNvPr id="34" name="Text 32"/>
          <p:cNvSpPr/>
          <p:nvPr/>
        </p:nvSpPr>
        <p:spPr>
          <a:xfrm>
            <a:off x="7240607" y="5491401"/>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EBECEF"/>
                </a:solidFill>
                <a:latin typeface="Fraunces Medium" pitchFamily="34" charset="0"/>
                <a:ea typeface="Fraunces Medium" pitchFamily="34" charset="-122"/>
                <a:cs typeface="Fraunces Medium" pitchFamily="34" charset="-120"/>
              </a:rPr>
              <a:t>1</a:t>
            </a:r>
            <a:endParaRPr lang="en-US" sz="1150" dirty="0"/>
          </a:p>
        </p:txBody>
      </p:sp>
      <p:sp>
        <p:nvSpPr>
          <p:cNvPr id="35" name="Text 33"/>
          <p:cNvSpPr/>
          <p:nvPr/>
        </p:nvSpPr>
        <p:spPr>
          <a:xfrm>
            <a:off x="5578554" y="5506879"/>
            <a:ext cx="1240393" cy="155019"/>
          </a:xfrm>
          <a:prstGeom prst="rect">
            <a:avLst/>
          </a:prstGeom>
          <a:noFill/>
          <a:ln/>
        </p:spPr>
        <p:txBody>
          <a:bodyPr wrap="none" lIns="0" tIns="0" rIns="0" bIns="0" rtlCol="0" anchor="t"/>
          <a:lstStyle/>
          <a:p>
            <a:pPr algn="r"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T+0s: Transaction</a:t>
            </a:r>
            <a:endParaRPr lang="en-US" sz="950" dirty="0"/>
          </a:p>
        </p:txBody>
      </p:sp>
      <p:sp>
        <p:nvSpPr>
          <p:cNvPr id="36" name="Text 34"/>
          <p:cNvSpPr/>
          <p:nvPr/>
        </p:nvSpPr>
        <p:spPr>
          <a:xfrm>
            <a:off x="3728442" y="5721429"/>
            <a:ext cx="3090505" cy="158591"/>
          </a:xfrm>
          <a:prstGeom prst="rect">
            <a:avLst/>
          </a:prstGeom>
          <a:noFill/>
          <a:ln/>
        </p:spPr>
        <p:txBody>
          <a:bodyPr wrap="none" lIns="0" tIns="0" rIns="0" bIns="0" rtlCol="0" anchor="t"/>
          <a:lstStyle/>
          <a:p>
            <a:pPr algn="r" indent="0" marL="0">
              <a:lnSpc>
                <a:spcPts val="1250"/>
              </a:lnSpc>
              <a:buNone/>
            </a:pPr>
            <a:r>
              <a:rPr lang="en-US" sz="750" dirty="0">
                <a:solidFill>
                  <a:srgbClr val="EBECEF"/>
                </a:solidFill>
                <a:latin typeface="Epilogue" pitchFamily="34" charset="0"/>
                <a:ea typeface="Epilogue" pitchFamily="34" charset="-122"/>
                <a:cs typeface="Epilogue" pitchFamily="34" charset="-120"/>
              </a:rPr>
              <a:t>AS/400 program writes log to PF</a:t>
            </a:r>
            <a:endParaRPr lang="en-US" sz="750" dirty="0"/>
          </a:p>
        </p:txBody>
      </p:sp>
      <p:sp>
        <p:nvSpPr>
          <p:cNvPr id="37" name="Shape 35"/>
          <p:cNvSpPr/>
          <p:nvPr/>
        </p:nvSpPr>
        <p:spPr>
          <a:xfrm>
            <a:off x="7411462" y="6171962"/>
            <a:ext cx="297656" cy="15240"/>
          </a:xfrm>
          <a:prstGeom prst="roundRect">
            <a:avLst>
              <a:gd name="adj" fmla="val 273488"/>
            </a:avLst>
          </a:prstGeom>
          <a:solidFill>
            <a:srgbClr val="414A70"/>
          </a:solidFill>
          <a:ln/>
        </p:spPr>
      </p:sp>
      <p:sp>
        <p:nvSpPr>
          <p:cNvPr id="38" name="Shape 36"/>
          <p:cNvSpPr/>
          <p:nvPr/>
        </p:nvSpPr>
        <p:spPr>
          <a:xfrm>
            <a:off x="7203460" y="6068020"/>
            <a:ext cx="223242" cy="223242"/>
          </a:xfrm>
          <a:prstGeom prst="roundRect">
            <a:avLst>
              <a:gd name="adj" fmla="val 18670"/>
            </a:avLst>
          </a:prstGeom>
          <a:solidFill>
            <a:srgbClr val="283157"/>
          </a:solidFill>
          <a:ln w="7620">
            <a:solidFill>
              <a:srgbClr val="414A70"/>
            </a:solidFill>
            <a:prstDash val="solid"/>
          </a:ln>
        </p:spPr>
      </p:sp>
      <p:sp>
        <p:nvSpPr>
          <p:cNvPr id="39" name="Text 37"/>
          <p:cNvSpPr/>
          <p:nvPr/>
        </p:nvSpPr>
        <p:spPr>
          <a:xfrm>
            <a:off x="7240607" y="6086594"/>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EBECEF"/>
                </a:solidFill>
                <a:latin typeface="Fraunces Medium" pitchFamily="34" charset="0"/>
                <a:ea typeface="Fraunces Medium" pitchFamily="34" charset="-122"/>
                <a:cs typeface="Fraunces Medium" pitchFamily="34" charset="-120"/>
              </a:rPr>
              <a:t>2</a:t>
            </a:r>
            <a:endParaRPr lang="en-US" sz="1150" dirty="0"/>
          </a:p>
        </p:txBody>
      </p:sp>
      <p:sp>
        <p:nvSpPr>
          <p:cNvPr id="40" name="Text 38"/>
          <p:cNvSpPr/>
          <p:nvPr/>
        </p:nvSpPr>
        <p:spPr>
          <a:xfrm>
            <a:off x="7811214" y="6102072"/>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T+60s: Collection</a:t>
            </a:r>
            <a:endParaRPr lang="en-US" sz="950" dirty="0"/>
          </a:p>
        </p:txBody>
      </p:sp>
      <p:sp>
        <p:nvSpPr>
          <p:cNvPr id="41" name="Text 39"/>
          <p:cNvSpPr/>
          <p:nvPr/>
        </p:nvSpPr>
        <p:spPr>
          <a:xfrm>
            <a:off x="7811214" y="6316623"/>
            <a:ext cx="3090624"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Daemon reads new records</a:t>
            </a:r>
            <a:endParaRPr lang="en-US" sz="750" dirty="0"/>
          </a:p>
        </p:txBody>
      </p:sp>
      <p:sp>
        <p:nvSpPr>
          <p:cNvPr id="42" name="Shape 40"/>
          <p:cNvSpPr/>
          <p:nvPr/>
        </p:nvSpPr>
        <p:spPr>
          <a:xfrm>
            <a:off x="6921044" y="6685002"/>
            <a:ext cx="297656" cy="15240"/>
          </a:xfrm>
          <a:prstGeom prst="roundRect">
            <a:avLst>
              <a:gd name="adj" fmla="val 273488"/>
            </a:avLst>
          </a:prstGeom>
          <a:solidFill>
            <a:srgbClr val="414A70"/>
          </a:solidFill>
          <a:ln/>
        </p:spPr>
      </p:sp>
      <p:sp>
        <p:nvSpPr>
          <p:cNvPr id="43" name="Shape 41"/>
          <p:cNvSpPr/>
          <p:nvPr/>
        </p:nvSpPr>
        <p:spPr>
          <a:xfrm>
            <a:off x="7203460" y="6581061"/>
            <a:ext cx="223242" cy="223242"/>
          </a:xfrm>
          <a:prstGeom prst="roundRect">
            <a:avLst>
              <a:gd name="adj" fmla="val 18670"/>
            </a:avLst>
          </a:prstGeom>
          <a:solidFill>
            <a:srgbClr val="283157"/>
          </a:solidFill>
          <a:ln w="7620">
            <a:solidFill>
              <a:srgbClr val="414A70"/>
            </a:solidFill>
            <a:prstDash val="solid"/>
          </a:ln>
        </p:spPr>
      </p:sp>
      <p:sp>
        <p:nvSpPr>
          <p:cNvPr id="44" name="Text 42"/>
          <p:cNvSpPr/>
          <p:nvPr/>
        </p:nvSpPr>
        <p:spPr>
          <a:xfrm>
            <a:off x="7240607" y="6599634"/>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EBECEF"/>
                </a:solidFill>
                <a:latin typeface="Fraunces Medium" pitchFamily="34" charset="0"/>
                <a:ea typeface="Fraunces Medium" pitchFamily="34" charset="-122"/>
                <a:cs typeface="Fraunces Medium" pitchFamily="34" charset="-120"/>
              </a:rPr>
              <a:t>3</a:t>
            </a:r>
            <a:endParaRPr lang="en-US" sz="1150" dirty="0"/>
          </a:p>
        </p:txBody>
      </p:sp>
      <p:sp>
        <p:nvSpPr>
          <p:cNvPr id="45" name="Text 43"/>
          <p:cNvSpPr/>
          <p:nvPr/>
        </p:nvSpPr>
        <p:spPr>
          <a:xfrm>
            <a:off x="5578554" y="6615113"/>
            <a:ext cx="1240393" cy="155019"/>
          </a:xfrm>
          <a:prstGeom prst="rect">
            <a:avLst/>
          </a:prstGeom>
          <a:noFill/>
          <a:ln/>
        </p:spPr>
        <p:txBody>
          <a:bodyPr wrap="none" lIns="0" tIns="0" rIns="0" bIns="0" rtlCol="0" anchor="t"/>
          <a:lstStyle/>
          <a:p>
            <a:pPr algn="r"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T+90s: Processing</a:t>
            </a:r>
            <a:endParaRPr lang="en-US" sz="950" dirty="0"/>
          </a:p>
        </p:txBody>
      </p:sp>
      <p:sp>
        <p:nvSpPr>
          <p:cNvPr id="46" name="Text 44"/>
          <p:cNvSpPr/>
          <p:nvPr/>
        </p:nvSpPr>
        <p:spPr>
          <a:xfrm>
            <a:off x="3728442" y="6829663"/>
            <a:ext cx="3090505" cy="158591"/>
          </a:xfrm>
          <a:prstGeom prst="rect">
            <a:avLst/>
          </a:prstGeom>
          <a:noFill/>
          <a:ln/>
        </p:spPr>
        <p:txBody>
          <a:bodyPr wrap="none" lIns="0" tIns="0" rIns="0" bIns="0" rtlCol="0" anchor="t"/>
          <a:lstStyle/>
          <a:p>
            <a:pPr algn="r" indent="0" marL="0">
              <a:lnSpc>
                <a:spcPts val="1250"/>
              </a:lnSpc>
              <a:buNone/>
            </a:pPr>
            <a:r>
              <a:rPr lang="en-US" sz="750" dirty="0">
                <a:solidFill>
                  <a:srgbClr val="EBECEF"/>
                </a:solidFill>
                <a:latin typeface="Epilogue" pitchFamily="34" charset="0"/>
                <a:ea typeface="Epilogue" pitchFamily="34" charset="-122"/>
                <a:cs typeface="Epilogue" pitchFamily="34" charset="-120"/>
              </a:rPr>
              <a:t>Bridge converts to OTLP</a:t>
            </a:r>
            <a:endParaRPr lang="en-US" sz="750" dirty="0"/>
          </a:p>
        </p:txBody>
      </p:sp>
      <p:sp>
        <p:nvSpPr>
          <p:cNvPr id="47" name="Shape 45"/>
          <p:cNvSpPr/>
          <p:nvPr/>
        </p:nvSpPr>
        <p:spPr>
          <a:xfrm>
            <a:off x="7411462" y="7198162"/>
            <a:ext cx="297656" cy="15240"/>
          </a:xfrm>
          <a:prstGeom prst="roundRect">
            <a:avLst>
              <a:gd name="adj" fmla="val 273488"/>
            </a:avLst>
          </a:prstGeom>
          <a:solidFill>
            <a:srgbClr val="414A70"/>
          </a:solidFill>
          <a:ln/>
        </p:spPr>
      </p:sp>
      <p:sp>
        <p:nvSpPr>
          <p:cNvPr id="48" name="Shape 46"/>
          <p:cNvSpPr/>
          <p:nvPr/>
        </p:nvSpPr>
        <p:spPr>
          <a:xfrm>
            <a:off x="7203460" y="7094220"/>
            <a:ext cx="223242" cy="223242"/>
          </a:xfrm>
          <a:prstGeom prst="roundRect">
            <a:avLst>
              <a:gd name="adj" fmla="val 18670"/>
            </a:avLst>
          </a:prstGeom>
          <a:solidFill>
            <a:srgbClr val="283157"/>
          </a:solidFill>
          <a:ln w="7620">
            <a:solidFill>
              <a:srgbClr val="414A70"/>
            </a:solidFill>
            <a:prstDash val="solid"/>
          </a:ln>
        </p:spPr>
      </p:sp>
      <p:sp>
        <p:nvSpPr>
          <p:cNvPr id="49" name="Text 47"/>
          <p:cNvSpPr/>
          <p:nvPr/>
        </p:nvSpPr>
        <p:spPr>
          <a:xfrm>
            <a:off x="7240607" y="7112794"/>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EBECEF"/>
                </a:solidFill>
                <a:latin typeface="Fraunces Medium" pitchFamily="34" charset="0"/>
                <a:ea typeface="Fraunces Medium" pitchFamily="34" charset="-122"/>
                <a:cs typeface="Fraunces Medium" pitchFamily="34" charset="-120"/>
              </a:rPr>
              <a:t>4</a:t>
            </a:r>
            <a:endParaRPr lang="en-US" sz="1150" dirty="0"/>
          </a:p>
        </p:txBody>
      </p:sp>
      <p:sp>
        <p:nvSpPr>
          <p:cNvPr id="50" name="Text 48"/>
          <p:cNvSpPr/>
          <p:nvPr/>
        </p:nvSpPr>
        <p:spPr>
          <a:xfrm>
            <a:off x="7811214" y="7128272"/>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T+120s: Backend</a:t>
            </a:r>
            <a:endParaRPr lang="en-US" sz="950" dirty="0"/>
          </a:p>
        </p:txBody>
      </p:sp>
      <p:sp>
        <p:nvSpPr>
          <p:cNvPr id="51" name="Text 49"/>
          <p:cNvSpPr/>
          <p:nvPr/>
        </p:nvSpPr>
        <p:spPr>
          <a:xfrm>
            <a:off x="7811214" y="7342823"/>
            <a:ext cx="3090624"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Trace appears in X-Ray/Tempo</a:t>
            </a:r>
            <a:endParaRPr lang="en-US" sz="750" dirty="0"/>
          </a:p>
        </p:txBody>
      </p:sp>
      <p:sp>
        <p:nvSpPr>
          <p:cNvPr id="52" name="Shape 50"/>
          <p:cNvSpPr/>
          <p:nvPr/>
        </p:nvSpPr>
        <p:spPr>
          <a:xfrm>
            <a:off x="6921044" y="7711321"/>
            <a:ext cx="297656" cy="15240"/>
          </a:xfrm>
          <a:prstGeom prst="roundRect">
            <a:avLst>
              <a:gd name="adj" fmla="val 273488"/>
            </a:avLst>
          </a:prstGeom>
          <a:solidFill>
            <a:srgbClr val="414A70"/>
          </a:solidFill>
          <a:ln/>
        </p:spPr>
      </p:sp>
      <p:sp>
        <p:nvSpPr>
          <p:cNvPr id="53" name="Shape 51"/>
          <p:cNvSpPr/>
          <p:nvPr/>
        </p:nvSpPr>
        <p:spPr>
          <a:xfrm>
            <a:off x="7203460" y="7607379"/>
            <a:ext cx="223242" cy="223242"/>
          </a:xfrm>
          <a:prstGeom prst="roundRect">
            <a:avLst>
              <a:gd name="adj" fmla="val 18670"/>
            </a:avLst>
          </a:prstGeom>
          <a:solidFill>
            <a:srgbClr val="283157"/>
          </a:solidFill>
          <a:ln w="7620">
            <a:solidFill>
              <a:srgbClr val="414A70"/>
            </a:solidFill>
            <a:prstDash val="solid"/>
          </a:ln>
        </p:spPr>
      </p:sp>
      <p:sp>
        <p:nvSpPr>
          <p:cNvPr id="54" name="Text 52"/>
          <p:cNvSpPr/>
          <p:nvPr/>
        </p:nvSpPr>
        <p:spPr>
          <a:xfrm>
            <a:off x="7240607" y="7625953"/>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EBECEF"/>
                </a:solidFill>
                <a:latin typeface="Fraunces Medium" pitchFamily="34" charset="0"/>
                <a:ea typeface="Fraunces Medium" pitchFamily="34" charset="-122"/>
                <a:cs typeface="Fraunces Medium" pitchFamily="34" charset="-120"/>
              </a:rPr>
              <a:t>5</a:t>
            </a:r>
            <a:endParaRPr lang="en-US" sz="1150" dirty="0"/>
          </a:p>
        </p:txBody>
      </p:sp>
      <p:sp>
        <p:nvSpPr>
          <p:cNvPr id="55" name="Text 53"/>
          <p:cNvSpPr/>
          <p:nvPr/>
        </p:nvSpPr>
        <p:spPr>
          <a:xfrm>
            <a:off x="3728442" y="7639526"/>
            <a:ext cx="3090505" cy="792956"/>
          </a:xfrm>
          <a:prstGeom prst="rect">
            <a:avLst/>
          </a:prstGeom>
          <a:noFill/>
          <a:ln/>
        </p:spPr>
        <p:txBody>
          <a:bodyPr wrap="square" lIns="0" tIns="0" rIns="0" bIns="0" rtlCol="0" anchor="t"/>
          <a:lstStyle/>
          <a:p>
            <a:pPr algn="r" indent="0" marL="0">
              <a:lnSpc>
                <a:spcPts val="1250"/>
              </a:lnSpc>
              <a:buNone/>
            </a:pPr>
            <a:r>
              <a:rPr lang="en-US" sz="750" b="1" dirty="0">
                <a:solidFill>
                  <a:srgbClr val="EBECEF"/>
                </a:solidFill>
                <a:latin typeface="Epilogue" pitchFamily="34" charset="0"/>
                <a:ea typeface="Epilogue" pitchFamily="34" charset="-122"/>
                <a:cs typeface="Epilogue" pitchFamily="34" charset="-120"/>
              </a:rPr>
              <a:t>End-to-End Latency Target:</a:t>
            </a:r>
            <a:pPr algn="r" indent="0" marL="0">
              <a:lnSpc>
                <a:spcPts val="1250"/>
              </a:lnSpc>
              <a:buNone/>
            </a:pPr>
            <a:r>
              <a:rPr lang="en-US" sz="750" dirty="0">
                <a:solidFill>
                  <a:srgbClr val="EBECEF"/>
                </a:solidFill>
                <a:latin typeface="Epilogue" pitchFamily="34" charset="0"/>
                <a:ea typeface="Epilogue" pitchFamily="34" charset="-122"/>
                <a:cs typeface="Epilogue" pitchFamily="34" charset="-120"/>
              </a:rPr>
              <a:t> 2 minutes from transaction completion to trace availability in visualization layer. This latency is acceptable for SRE debugging workflows while optimizing for batch efficiency and system load management on AS/400.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705332" y="541853"/>
            <a:ext cx="1655088" cy="291703"/>
          </a:xfrm>
          <a:prstGeom prst="roundRect">
            <a:avLst>
              <a:gd name="adj" fmla="val 17879"/>
            </a:avLst>
          </a:prstGeom>
          <a:solidFill>
            <a:srgbClr val="181E34"/>
          </a:solidFill>
          <a:ln/>
        </p:spPr>
      </p:sp>
      <p:sp>
        <p:nvSpPr>
          <p:cNvPr id="3" name="Text 1"/>
          <p:cNvSpPr/>
          <p:nvPr/>
        </p:nvSpPr>
        <p:spPr>
          <a:xfrm>
            <a:off x="1798439" y="588407"/>
            <a:ext cx="1468874" cy="198596"/>
          </a:xfrm>
          <a:prstGeom prst="rect">
            <a:avLst/>
          </a:prstGeom>
          <a:noFill/>
          <a:ln/>
        </p:spPr>
        <p:txBody>
          <a:bodyPr wrap="none" lIns="0" tIns="0" rIns="0" bIns="0" rtlCol="0" anchor="t"/>
          <a:lstStyle/>
          <a:p>
            <a:pPr algn="l" indent="0" marL="0">
              <a:lnSpc>
                <a:spcPts val="1550"/>
              </a:lnSpc>
              <a:buNone/>
            </a:pPr>
            <a:r>
              <a:rPr lang="en-US" sz="950" dirty="0">
                <a:solidFill>
                  <a:srgbClr val="EBECEF"/>
                </a:solidFill>
                <a:latin typeface="Epilogue" pitchFamily="34" charset="0"/>
                <a:ea typeface="Epilogue" pitchFamily="34" charset="-122"/>
                <a:cs typeface="Epilogue" pitchFamily="34" charset="-120"/>
              </a:rPr>
              <a:t>MONITORING CAPABILITIES</a:t>
            </a:r>
            <a:endParaRPr lang="en-US" sz="950" dirty="0"/>
          </a:p>
        </p:txBody>
      </p:sp>
      <p:sp>
        <p:nvSpPr>
          <p:cNvPr id="4" name="Text 2"/>
          <p:cNvSpPr/>
          <p:nvPr/>
        </p:nvSpPr>
        <p:spPr>
          <a:xfrm>
            <a:off x="1705332" y="895588"/>
            <a:ext cx="8296751" cy="484942"/>
          </a:xfrm>
          <a:prstGeom prst="rect">
            <a:avLst/>
          </a:prstGeom>
          <a:noFill/>
          <a:ln/>
        </p:spPr>
        <p:txBody>
          <a:bodyPr wrap="none" lIns="0" tIns="0" rIns="0" bIns="0" rtlCol="0" anchor="t"/>
          <a:lstStyle/>
          <a:p>
            <a:pPr algn="l" indent="0" marL="0">
              <a:lnSpc>
                <a:spcPts val="3800"/>
              </a:lnSpc>
              <a:buNone/>
            </a:pPr>
            <a:r>
              <a:rPr lang="en-US" sz="3050" dirty="0">
                <a:solidFill>
                  <a:srgbClr val="FFFFFF"/>
                </a:solidFill>
                <a:latin typeface="Fraunces Medium" pitchFamily="34" charset="0"/>
                <a:ea typeface="Fraunces Medium" pitchFamily="34" charset="-122"/>
                <a:cs typeface="Fraunces Medium" pitchFamily="34" charset="-120"/>
              </a:rPr>
              <a:t>What Can Be Monitored with OpenTelemetry</a:t>
            </a:r>
            <a:endParaRPr lang="en-US" sz="3050" dirty="0"/>
          </a:p>
        </p:txBody>
      </p:sp>
      <p:sp>
        <p:nvSpPr>
          <p:cNvPr id="5" name="Shape 3"/>
          <p:cNvSpPr/>
          <p:nvPr/>
        </p:nvSpPr>
        <p:spPr>
          <a:xfrm>
            <a:off x="1705332" y="1613297"/>
            <a:ext cx="2793802" cy="1552099"/>
          </a:xfrm>
          <a:prstGeom prst="roundRect">
            <a:avLst>
              <a:gd name="adj" fmla="val 4200"/>
            </a:avLst>
          </a:prstGeom>
          <a:solidFill>
            <a:srgbClr val="4D4D51"/>
          </a:solidFill>
          <a:ln/>
        </p:spPr>
      </p:sp>
      <p:pic>
        <p:nvPicPr>
          <p:cNvPr id="6" name="Image 0" descr="preencoded.png">    </p:cNvPr>
          <p:cNvPicPr>
            <a:picLocks noChangeAspect="1"/>
          </p:cNvPicPr>
          <p:nvPr/>
        </p:nvPicPr>
        <p:blipFill>
          <a:blip r:embed="rId1"/>
          <a:stretch>
            <a:fillRect/>
          </a:stretch>
        </p:blipFill>
        <p:spPr>
          <a:xfrm>
            <a:off x="2987873" y="2149673"/>
            <a:ext cx="228600" cy="228600"/>
          </a:xfrm>
          <a:prstGeom prst="rect">
            <a:avLst/>
          </a:prstGeom>
        </p:spPr>
      </p:pic>
      <p:sp>
        <p:nvSpPr>
          <p:cNvPr id="7" name="Text 4"/>
          <p:cNvSpPr/>
          <p:nvPr/>
        </p:nvSpPr>
        <p:spPr>
          <a:xfrm>
            <a:off x="2023824" y="2502098"/>
            <a:ext cx="2156817"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Epilogue" pitchFamily="34" charset="0"/>
                <a:ea typeface="Epilogue" pitchFamily="34" charset="-122"/>
                <a:cs typeface="Epilogue" pitchFamily="34" charset="-120"/>
              </a:rPr>
              <a:t>There was an error generating this image</a:t>
            </a:r>
            <a:endParaRPr lang="en-US" sz="800" dirty="0"/>
          </a:p>
        </p:txBody>
      </p:sp>
      <p:sp>
        <p:nvSpPr>
          <p:cNvPr id="8" name="Shape 5"/>
          <p:cNvSpPr/>
          <p:nvPr/>
        </p:nvSpPr>
        <p:spPr>
          <a:xfrm>
            <a:off x="1705332" y="3339941"/>
            <a:ext cx="3636407" cy="2344698"/>
          </a:xfrm>
          <a:prstGeom prst="roundRect">
            <a:avLst>
              <a:gd name="adj" fmla="val 2780"/>
            </a:avLst>
          </a:prstGeom>
          <a:solidFill>
            <a:srgbClr val="080E26"/>
          </a:solidFill>
          <a:ln w="22860">
            <a:solidFill>
              <a:srgbClr val="414A70"/>
            </a:solidFill>
            <a:prstDash val="solid"/>
          </a:ln>
        </p:spPr>
      </p:sp>
      <p:sp>
        <p:nvSpPr>
          <p:cNvPr id="9" name="Text 6"/>
          <p:cNvSpPr/>
          <p:nvPr/>
        </p:nvSpPr>
        <p:spPr>
          <a:xfrm>
            <a:off x="1883331" y="3517940"/>
            <a:ext cx="2500432" cy="242530"/>
          </a:xfrm>
          <a:prstGeom prst="rect">
            <a:avLst/>
          </a:prstGeom>
          <a:noFill/>
          <a:ln/>
        </p:spPr>
        <p:txBody>
          <a:bodyPr wrap="none" lIns="0" tIns="0" rIns="0" bIns="0" rtlCol="0" anchor="t"/>
          <a:lstStyle/>
          <a:p>
            <a:pPr algn="l" indent="0" marL="0">
              <a:lnSpc>
                <a:spcPts val="1900"/>
              </a:lnSpc>
              <a:buNone/>
            </a:pPr>
            <a:r>
              <a:rPr lang="en-US" sz="1500" dirty="0">
                <a:solidFill>
                  <a:srgbClr val="EBECEF"/>
                </a:solidFill>
                <a:latin typeface="Fraunces Medium" pitchFamily="34" charset="0"/>
                <a:ea typeface="Fraunces Medium" pitchFamily="34" charset="-122"/>
                <a:cs typeface="Fraunces Medium" pitchFamily="34" charset="-120"/>
              </a:rPr>
              <a:t>Transaction Tracing (Core)</a:t>
            </a:r>
            <a:endParaRPr lang="en-US" sz="1500" dirty="0"/>
          </a:p>
        </p:txBody>
      </p:sp>
      <p:sp>
        <p:nvSpPr>
          <p:cNvPr id="10" name="Text 7"/>
          <p:cNvSpPr/>
          <p:nvPr/>
        </p:nvSpPr>
        <p:spPr>
          <a:xfrm>
            <a:off x="1883331" y="3853577"/>
            <a:ext cx="3280410" cy="49672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End-to-end transaction flow across AS/400 RPG programs</a:t>
            </a:r>
            <a:endParaRPr lang="en-US" sz="1200" dirty="0"/>
          </a:p>
        </p:txBody>
      </p:sp>
      <p:sp>
        <p:nvSpPr>
          <p:cNvPr id="11" name="Text 8"/>
          <p:cNvSpPr/>
          <p:nvPr/>
        </p:nvSpPr>
        <p:spPr>
          <a:xfrm>
            <a:off x="1883331" y="4404598"/>
            <a:ext cx="3280410" cy="49672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Trace ID correlation for distributed transactions</a:t>
            </a:r>
            <a:endParaRPr lang="en-US" sz="1200" dirty="0"/>
          </a:p>
        </p:txBody>
      </p:sp>
      <p:sp>
        <p:nvSpPr>
          <p:cNvPr id="12" name="Text 9"/>
          <p:cNvSpPr/>
          <p:nvPr/>
        </p:nvSpPr>
        <p:spPr>
          <a:xfrm>
            <a:off x="1883331" y="4955619"/>
            <a:ext cx="3280410"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Transaction success/failure rates</a:t>
            </a:r>
            <a:endParaRPr lang="en-US" sz="1200" dirty="0"/>
          </a:p>
        </p:txBody>
      </p:sp>
      <p:sp>
        <p:nvSpPr>
          <p:cNvPr id="13" name="Text 10"/>
          <p:cNvSpPr/>
          <p:nvPr/>
        </p:nvSpPr>
        <p:spPr>
          <a:xfrm>
            <a:off x="1883331" y="5258276"/>
            <a:ext cx="3280410"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Request/Response payload inspection</a:t>
            </a:r>
            <a:endParaRPr lang="en-US" sz="1200" dirty="0"/>
          </a:p>
        </p:txBody>
      </p:sp>
      <p:sp>
        <p:nvSpPr>
          <p:cNvPr id="14" name="Shape 11"/>
          <p:cNvSpPr/>
          <p:nvPr/>
        </p:nvSpPr>
        <p:spPr>
          <a:xfrm>
            <a:off x="5496878" y="3339941"/>
            <a:ext cx="3636526" cy="2344698"/>
          </a:xfrm>
          <a:prstGeom prst="roundRect">
            <a:avLst>
              <a:gd name="adj" fmla="val 2780"/>
            </a:avLst>
          </a:prstGeom>
          <a:solidFill>
            <a:srgbClr val="080E26"/>
          </a:solidFill>
          <a:ln w="22860">
            <a:solidFill>
              <a:srgbClr val="414A70"/>
            </a:solidFill>
            <a:prstDash val="solid"/>
          </a:ln>
        </p:spPr>
      </p:sp>
      <p:sp>
        <p:nvSpPr>
          <p:cNvPr id="15" name="Text 12"/>
          <p:cNvSpPr/>
          <p:nvPr/>
        </p:nvSpPr>
        <p:spPr>
          <a:xfrm>
            <a:off x="5674876" y="3517940"/>
            <a:ext cx="1951315" cy="242530"/>
          </a:xfrm>
          <a:prstGeom prst="rect">
            <a:avLst/>
          </a:prstGeom>
          <a:noFill/>
          <a:ln/>
        </p:spPr>
        <p:txBody>
          <a:bodyPr wrap="none" lIns="0" tIns="0" rIns="0" bIns="0" rtlCol="0" anchor="t"/>
          <a:lstStyle/>
          <a:p>
            <a:pPr algn="l" indent="0" marL="0">
              <a:lnSpc>
                <a:spcPts val="1900"/>
              </a:lnSpc>
              <a:buNone/>
            </a:pPr>
            <a:r>
              <a:rPr lang="en-US" sz="1500" dirty="0">
                <a:solidFill>
                  <a:srgbClr val="EBECEF"/>
                </a:solidFill>
                <a:latin typeface="Fraunces Medium" pitchFamily="34" charset="0"/>
                <a:ea typeface="Fraunces Medium" pitchFamily="34" charset="-122"/>
                <a:cs typeface="Fraunces Medium" pitchFamily="34" charset="-120"/>
              </a:rPr>
              <a:t>Performance Metrics</a:t>
            </a:r>
            <a:endParaRPr lang="en-US" sz="1500" dirty="0"/>
          </a:p>
        </p:txBody>
      </p:sp>
      <p:sp>
        <p:nvSpPr>
          <p:cNvPr id="16" name="Text 13"/>
          <p:cNvSpPr/>
          <p:nvPr/>
        </p:nvSpPr>
        <p:spPr>
          <a:xfrm>
            <a:off x="5674876" y="3853577"/>
            <a:ext cx="3280529" cy="49672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RPG program execution latency (avg/max/min)</a:t>
            </a:r>
            <a:endParaRPr lang="en-US" sz="1200" dirty="0"/>
          </a:p>
        </p:txBody>
      </p:sp>
      <p:sp>
        <p:nvSpPr>
          <p:cNvPr id="17" name="Text 14"/>
          <p:cNvSpPr/>
          <p:nvPr/>
        </p:nvSpPr>
        <p:spPr>
          <a:xfrm>
            <a:off x="5674876" y="4404598"/>
            <a:ext cx="3280529"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DB2 query processing time</a:t>
            </a:r>
            <a:endParaRPr lang="en-US" sz="1200" dirty="0"/>
          </a:p>
        </p:txBody>
      </p:sp>
      <p:sp>
        <p:nvSpPr>
          <p:cNvPr id="18" name="Text 15"/>
          <p:cNvSpPr/>
          <p:nvPr/>
        </p:nvSpPr>
        <p:spPr>
          <a:xfrm>
            <a:off x="5674876" y="4707255"/>
            <a:ext cx="3280529"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Log collection &amp; conversion throughput</a:t>
            </a:r>
            <a:endParaRPr lang="en-US" sz="1200" dirty="0"/>
          </a:p>
        </p:txBody>
      </p:sp>
      <p:sp>
        <p:nvSpPr>
          <p:cNvPr id="19" name="Text 16"/>
          <p:cNvSpPr/>
          <p:nvPr/>
        </p:nvSpPr>
        <p:spPr>
          <a:xfrm>
            <a:off x="5674876" y="5009912"/>
            <a:ext cx="3280529"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AS/400 resource utilization</a:t>
            </a:r>
            <a:endParaRPr lang="en-US" sz="1200" dirty="0"/>
          </a:p>
        </p:txBody>
      </p:sp>
      <p:sp>
        <p:nvSpPr>
          <p:cNvPr id="20" name="Shape 17"/>
          <p:cNvSpPr/>
          <p:nvPr/>
        </p:nvSpPr>
        <p:spPr>
          <a:xfrm>
            <a:off x="9288542" y="3339941"/>
            <a:ext cx="3636407" cy="2344698"/>
          </a:xfrm>
          <a:prstGeom prst="roundRect">
            <a:avLst>
              <a:gd name="adj" fmla="val 2780"/>
            </a:avLst>
          </a:prstGeom>
          <a:solidFill>
            <a:srgbClr val="080E26"/>
          </a:solidFill>
          <a:ln w="22860">
            <a:solidFill>
              <a:srgbClr val="414A70"/>
            </a:solidFill>
            <a:prstDash val="solid"/>
          </a:ln>
        </p:spPr>
      </p:sp>
      <p:sp>
        <p:nvSpPr>
          <p:cNvPr id="21" name="Text 18"/>
          <p:cNvSpPr/>
          <p:nvPr/>
        </p:nvSpPr>
        <p:spPr>
          <a:xfrm>
            <a:off x="9466540" y="3517940"/>
            <a:ext cx="1940123" cy="242530"/>
          </a:xfrm>
          <a:prstGeom prst="rect">
            <a:avLst/>
          </a:prstGeom>
          <a:noFill/>
          <a:ln/>
        </p:spPr>
        <p:txBody>
          <a:bodyPr wrap="none" lIns="0" tIns="0" rIns="0" bIns="0" rtlCol="0" anchor="t"/>
          <a:lstStyle/>
          <a:p>
            <a:pPr algn="l" indent="0" marL="0">
              <a:lnSpc>
                <a:spcPts val="1900"/>
              </a:lnSpc>
              <a:buNone/>
            </a:pPr>
            <a:r>
              <a:rPr lang="en-US" sz="1500" dirty="0">
                <a:solidFill>
                  <a:srgbClr val="EBECEF"/>
                </a:solidFill>
                <a:latin typeface="Fraunces Medium" pitchFamily="34" charset="0"/>
                <a:ea typeface="Fraunces Medium" pitchFamily="34" charset="-122"/>
                <a:cs typeface="Fraunces Medium" pitchFamily="34" charset="-120"/>
              </a:rPr>
              <a:t>Log Analysis</a:t>
            </a:r>
            <a:endParaRPr lang="en-US" sz="1500" dirty="0"/>
          </a:p>
        </p:txBody>
      </p:sp>
      <p:sp>
        <p:nvSpPr>
          <p:cNvPr id="22" name="Text 19"/>
          <p:cNvSpPr/>
          <p:nvPr/>
        </p:nvSpPr>
        <p:spPr>
          <a:xfrm>
            <a:off x="9466540" y="3853577"/>
            <a:ext cx="3280410" cy="49672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Structured log search (filter by Server ID/Program ID/Trace ID)</a:t>
            </a:r>
            <a:endParaRPr lang="en-US" sz="1200" dirty="0"/>
          </a:p>
        </p:txBody>
      </p:sp>
      <p:sp>
        <p:nvSpPr>
          <p:cNvPr id="23" name="Text 20"/>
          <p:cNvSpPr/>
          <p:nvPr/>
        </p:nvSpPr>
        <p:spPr>
          <a:xfrm>
            <a:off x="9466540" y="4404598"/>
            <a:ext cx="3280410" cy="49672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Error log aggregation &amp; pattern detection</a:t>
            </a:r>
            <a:endParaRPr lang="en-US" sz="1200" dirty="0"/>
          </a:p>
        </p:txBody>
      </p:sp>
      <p:sp>
        <p:nvSpPr>
          <p:cNvPr id="24" name="Text 21"/>
          <p:cNvSpPr/>
          <p:nvPr/>
        </p:nvSpPr>
        <p:spPr>
          <a:xfrm>
            <a:off x="9466540" y="4955619"/>
            <a:ext cx="3280410"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Request timestamp correlation</a:t>
            </a:r>
            <a:endParaRPr lang="en-US" sz="1200" dirty="0"/>
          </a:p>
        </p:txBody>
      </p:sp>
      <p:sp>
        <p:nvSpPr>
          <p:cNvPr id="25" name="Text 22"/>
          <p:cNvSpPr/>
          <p:nvPr/>
        </p:nvSpPr>
        <p:spPr>
          <a:xfrm>
            <a:off x="9466540" y="5258276"/>
            <a:ext cx="3280410"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Payload content filtering</a:t>
            </a:r>
            <a:endParaRPr lang="en-US" sz="1200" dirty="0"/>
          </a:p>
        </p:txBody>
      </p:sp>
      <p:sp>
        <p:nvSpPr>
          <p:cNvPr id="26" name="Shape 23"/>
          <p:cNvSpPr/>
          <p:nvPr/>
        </p:nvSpPr>
        <p:spPr>
          <a:xfrm>
            <a:off x="1705332" y="5839778"/>
            <a:ext cx="5532239" cy="1847969"/>
          </a:xfrm>
          <a:prstGeom prst="roundRect">
            <a:avLst>
              <a:gd name="adj" fmla="val 3528"/>
            </a:avLst>
          </a:prstGeom>
          <a:solidFill>
            <a:srgbClr val="080E26"/>
          </a:solidFill>
          <a:ln w="22860">
            <a:solidFill>
              <a:srgbClr val="414A70"/>
            </a:solidFill>
            <a:prstDash val="solid"/>
          </a:ln>
        </p:spPr>
      </p:sp>
      <p:sp>
        <p:nvSpPr>
          <p:cNvPr id="27" name="Text 24"/>
          <p:cNvSpPr/>
          <p:nvPr/>
        </p:nvSpPr>
        <p:spPr>
          <a:xfrm>
            <a:off x="1883331" y="6017776"/>
            <a:ext cx="2010489" cy="242530"/>
          </a:xfrm>
          <a:prstGeom prst="rect">
            <a:avLst/>
          </a:prstGeom>
          <a:noFill/>
          <a:ln/>
        </p:spPr>
        <p:txBody>
          <a:bodyPr wrap="none" lIns="0" tIns="0" rIns="0" bIns="0" rtlCol="0" anchor="t"/>
          <a:lstStyle/>
          <a:p>
            <a:pPr algn="l" indent="0" marL="0">
              <a:lnSpc>
                <a:spcPts val="1900"/>
              </a:lnSpc>
              <a:buNone/>
            </a:pPr>
            <a:r>
              <a:rPr lang="en-US" sz="1500" dirty="0">
                <a:solidFill>
                  <a:srgbClr val="EBECEF"/>
                </a:solidFill>
                <a:latin typeface="Fraunces Medium" pitchFamily="34" charset="0"/>
                <a:ea typeface="Fraunces Medium" pitchFamily="34" charset="-122"/>
                <a:cs typeface="Fraunces Medium" pitchFamily="34" charset="-120"/>
              </a:rPr>
              <a:t>Dependency Mapping</a:t>
            </a:r>
            <a:endParaRPr lang="en-US" sz="1500" dirty="0"/>
          </a:p>
        </p:txBody>
      </p:sp>
      <p:sp>
        <p:nvSpPr>
          <p:cNvPr id="28" name="Text 25"/>
          <p:cNvSpPr/>
          <p:nvPr/>
        </p:nvSpPr>
        <p:spPr>
          <a:xfrm>
            <a:off x="1883331" y="6353413"/>
            <a:ext cx="5176242"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AS/400 program-to-DB2 table relationships</a:t>
            </a:r>
            <a:endParaRPr lang="en-US" sz="1200" dirty="0"/>
          </a:p>
        </p:txBody>
      </p:sp>
      <p:sp>
        <p:nvSpPr>
          <p:cNvPr id="29" name="Text 26"/>
          <p:cNvSpPr/>
          <p:nvPr/>
        </p:nvSpPr>
        <p:spPr>
          <a:xfrm>
            <a:off x="1883331" y="6656070"/>
            <a:ext cx="5176242"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Cross-server transaction flows</a:t>
            </a:r>
            <a:endParaRPr lang="en-US" sz="1200" dirty="0"/>
          </a:p>
        </p:txBody>
      </p:sp>
      <p:sp>
        <p:nvSpPr>
          <p:cNvPr id="30" name="Text 27"/>
          <p:cNvSpPr/>
          <p:nvPr/>
        </p:nvSpPr>
        <p:spPr>
          <a:xfrm>
            <a:off x="1883331" y="6958727"/>
            <a:ext cx="5176242"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Bottleneck identification</a:t>
            </a:r>
            <a:endParaRPr lang="en-US" sz="1200" dirty="0"/>
          </a:p>
        </p:txBody>
      </p:sp>
      <p:sp>
        <p:nvSpPr>
          <p:cNvPr id="31" name="Text 28"/>
          <p:cNvSpPr/>
          <p:nvPr/>
        </p:nvSpPr>
        <p:spPr>
          <a:xfrm>
            <a:off x="1883331" y="7261384"/>
            <a:ext cx="5176242"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Service map of legacy + cloud components</a:t>
            </a:r>
            <a:endParaRPr lang="en-US" sz="1200" dirty="0"/>
          </a:p>
        </p:txBody>
      </p:sp>
      <p:sp>
        <p:nvSpPr>
          <p:cNvPr id="32" name="Shape 29"/>
          <p:cNvSpPr/>
          <p:nvPr/>
        </p:nvSpPr>
        <p:spPr>
          <a:xfrm>
            <a:off x="7392710" y="5839778"/>
            <a:ext cx="5532239" cy="1847969"/>
          </a:xfrm>
          <a:prstGeom prst="roundRect">
            <a:avLst>
              <a:gd name="adj" fmla="val 3528"/>
            </a:avLst>
          </a:prstGeom>
          <a:solidFill>
            <a:srgbClr val="080E26"/>
          </a:solidFill>
          <a:ln w="22860">
            <a:solidFill>
              <a:srgbClr val="414A70"/>
            </a:solidFill>
            <a:prstDash val="solid"/>
          </a:ln>
        </p:spPr>
      </p:sp>
      <p:sp>
        <p:nvSpPr>
          <p:cNvPr id="33" name="Text 30"/>
          <p:cNvSpPr/>
          <p:nvPr/>
        </p:nvSpPr>
        <p:spPr>
          <a:xfrm>
            <a:off x="7570708" y="6017776"/>
            <a:ext cx="1940123" cy="242530"/>
          </a:xfrm>
          <a:prstGeom prst="rect">
            <a:avLst/>
          </a:prstGeom>
          <a:noFill/>
          <a:ln/>
        </p:spPr>
        <p:txBody>
          <a:bodyPr wrap="none" lIns="0" tIns="0" rIns="0" bIns="0" rtlCol="0" anchor="t"/>
          <a:lstStyle/>
          <a:p>
            <a:pPr algn="l" indent="0" marL="0">
              <a:lnSpc>
                <a:spcPts val="1900"/>
              </a:lnSpc>
              <a:buNone/>
            </a:pPr>
            <a:r>
              <a:rPr lang="en-US" sz="1500" dirty="0">
                <a:solidFill>
                  <a:srgbClr val="EBECEF"/>
                </a:solidFill>
                <a:latin typeface="Fraunces Medium" pitchFamily="34" charset="0"/>
                <a:ea typeface="Fraunces Medium" pitchFamily="34" charset="-122"/>
                <a:cs typeface="Fraunces Medium" pitchFamily="34" charset="-120"/>
              </a:rPr>
              <a:t>Error Tracking</a:t>
            </a:r>
            <a:endParaRPr lang="en-US" sz="1500" dirty="0"/>
          </a:p>
        </p:txBody>
      </p:sp>
      <p:sp>
        <p:nvSpPr>
          <p:cNvPr id="34" name="Text 31"/>
          <p:cNvSpPr/>
          <p:nvPr/>
        </p:nvSpPr>
        <p:spPr>
          <a:xfrm>
            <a:off x="7570708" y="6353413"/>
            <a:ext cx="5176242"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Transaction failure root cause analysis</a:t>
            </a:r>
            <a:endParaRPr lang="en-US" sz="1200" dirty="0"/>
          </a:p>
        </p:txBody>
      </p:sp>
      <p:sp>
        <p:nvSpPr>
          <p:cNvPr id="35" name="Text 32"/>
          <p:cNvSpPr/>
          <p:nvPr/>
        </p:nvSpPr>
        <p:spPr>
          <a:xfrm>
            <a:off x="7570708" y="6656070"/>
            <a:ext cx="5176242"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Conversion errors (EBCDIC → UTF-8, DB2 → OTLP)</a:t>
            </a:r>
            <a:endParaRPr lang="en-US" sz="1200" dirty="0"/>
          </a:p>
        </p:txBody>
      </p:sp>
      <p:sp>
        <p:nvSpPr>
          <p:cNvPr id="36" name="Text 33"/>
          <p:cNvSpPr/>
          <p:nvPr/>
        </p:nvSpPr>
        <p:spPr>
          <a:xfrm>
            <a:off x="7570708" y="6958727"/>
            <a:ext cx="5176242"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S3 upload failures &amp; retries</a:t>
            </a:r>
            <a:endParaRPr lang="en-US" sz="1200" dirty="0"/>
          </a:p>
        </p:txBody>
      </p:sp>
      <p:sp>
        <p:nvSpPr>
          <p:cNvPr id="37" name="Text 34"/>
          <p:cNvSpPr/>
          <p:nvPr/>
        </p:nvSpPr>
        <p:spPr>
          <a:xfrm>
            <a:off x="7570708" y="7261384"/>
            <a:ext cx="5176242" cy="248364"/>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EBECEF"/>
                </a:solidFill>
                <a:latin typeface="Epilogue" pitchFamily="34" charset="0"/>
                <a:ea typeface="Epilogue" pitchFamily="34" charset="-122"/>
                <a:cs typeface="Epilogue" pitchFamily="34" charset="-120"/>
              </a:rPr>
              <a:t>AS/400 system error correlation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728442" y="272891"/>
            <a:ext cx="738426" cy="186571"/>
          </a:xfrm>
          <a:prstGeom prst="roundRect">
            <a:avLst>
              <a:gd name="adj" fmla="val 17872"/>
            </a:avLst>
          </a:prstGeom>
          <a:solidFill>
            <a:srgbClr val="181E34"/>
          </a:solidFill>
          <a:ln/>
        </p:spPr>
      </p:sp>
      <p:sp>
        <p:nvSpPr>
          <p:cNvPr id="3" name="Text 1"/>
          <p:cNvSpPr/>
          <p:nvPr/>
        </p:nvSpPr>
        <p:spPr>
          <a:xfrm>
            <a:off x="3787973" y="302657"/>
            <a:ext cx="619363" cy="127040"/>
          </a:xfrm>
          <a:prstGeom prst="rect">
            <a:avLst/>
          </a:prstGeom>
          <a:noFill/>
          <a:ln/>
        </p:spPr>
        <p:txBody>
          <a:bodyPr wrap="none" lIns="0" tIns="0" rIns="0" bIns="0" rtlCol="0" anchor="t"/>
          <a:lstStyle/>
          <a:p>
            <a:pPr algn="l" indent="0" marL="0">
              <a:lnSpc>
                <a:spcPts val="1000"/>
              </a:lnSpc>
              <a:buNone/>
            </a:pPr>
            <a:r>
              <a:rPr lang="en-US" sz="600" dirty="0">
                <a:solidFill>
                  <a:srgbClr val="EBECEF"/>
                </a:solidFill>
                <a:latin typeface="Epilogue" pitchFamily="34" charset="0"/>
                <a:ea typeface="Epilogue" pitchFamily="34" charset="-122"/>
                <a:cs typeface="Epilogue" pitchFamily="34" charset="-120"/>
              </a:rPr>
              <a:t>IMPLEMENTATION</a:t>
            </a:r>
            <a:endParaRPr lang="en-US" sz="600" dirty="0"/>
          </a:p>
        </p:txBody>
      </p:sp>
      <p:sp>
        <p:nvSpPr>
          <p:cNvPr id="4" name="Text 2"/>
          <p:cNvSpPr/>
          <p:nvPr/>
        </p:nvSpPr>
        <p:spPr>
          <a:xfrm>
            <a:off x="3728442" y="499110"/>
            <a:ext cx="4679513"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Fraunces Medium" pitchFamily="34" charset="0"/>
                <a:ea typeface="Fraunces Medium" pitchFamily="34" charset="-122"/>
                <a:cs typeface="Fraunces Medium" pitchFamily="34" charset="-120"/>
              </a:rPr>
              <a:t>Eight-Month Implementation Roadmap</a:t>
            </a:r>
            <a:endParaRPr lang="en-US" sz="1950" dirty="0"/>
          </a:p>
        </p:txBody>
      </p:sp>
      <p:sp>
        <p:nvSpPr>
          <p:cNvPr id="5" name="Text 3"/>
          <p:cNvSpPr/>
          <p:nvPr/>
        </p:nvSpPr>
        <p:spPr>
          <a:xfrm>
            <a:off x="3728442" y="958096"/>
            <a:ext cx="7173397" cy="317183"/>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The deployment follows a phased approach designed to minimize risk, validate assumptions early, and enable iterative refinement based on production feedback. Each phase includes specific deliverables, quality gates, and rollback procedures to ensure system stability.</a:t>
            </a:r>
            <a:endParaRPr lang="en-US" sz="750" dirty="0"/>
          </a:p>
        </p:txBody>
      </p:sp>
      <p:sp>
        <p:nvSpPr>
          <p:cNvPr id="6" name="Shape 4"/>
          <p:cNvSpPr/>
          <p:nvPr/>
        </p:nvSpPr>
        <p:spPr>
          <a:xfrm>
            <a:off x="3827621" y="1535668"/>
            <a:ext cx="99179" cy="1639253"/>
          </a:xfrm>
          <a:prstGeom prst="roundRect">
            <a:avLst>
              <a:gd name="adj" fmla="val 42025"/>
            </a:avLst>
          </a:prstGeom>
          <a:solidFill>
            <a:srgbClr val="283157"/>
          </a:solidFill>
          <a:ln w="7620">
            <a:solidFill>
              <a:srgbClr val="414A70"/>
            </a:solidFill>
            <a:prstDash val="solid"/>
          </a:ln>
        </p:spPr>
      </p:sp>
      <p:sp>
        <p:nvSpPr>
          <p:cNvPr id="7" name="Shape 5"/>
          <p:cNvSpPr/>
          <p:nvPr/>
        </p:nvSpPr>
        <p:spPr>
          <a:xfrm>
            <a:off x="3728442" y="1455063"/>
            <a:ext cx="297656" cy="297656"/>
          </a:xfrm>
          <a:prstGeom prst="roundRect">
            <a:avLst>
              <a:gd name="adj" fmla="val 153600"/>
            </a:avLst>
          </a:prstGeom>
          <a:solidFill>
            <a:srgbClr val="283157"/>
          </a:solidFill>
          <a:ln w="7620">
            <a:solidFill>
              <a:srgbClr val="414A70"/>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02856" y="1529477"/>
            <a:ext cx="148828" cy="148828"/>
          </a:xfrm>
          <a:prstGeom prst="rect">
            <a:avLst/>
          </a:prstGeom>
        </p:spPr>
      </p:pic>
      <p:sp>
        <p:nvSpPr>
          <p:cNvPr id="9" name="Text 6"/>
          <p:cNvSpPr/>
          <p:nvPr/>
        </p:nvSpPr>
        <p:spPr>
          <a:xfrm>
            <a:off x="4125278" y="1486019"/>
            <a:ext cx="2341959"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Phase 1: Discovery &amp; Preparation</a:t>
            </a:r>
            <a:endParaRPr lang="en-US" sz="1150" dirty="0"/>
          </a:p>
        </p:txBody>
      </p:sp>
      <p:sp>
        <p:nvSpPr>
          <p:cNvPr id="10" name="Text 7"/>
          <p:cNvSpPr/>
          <p:nvPr/>
        </p:nvSpPr>
        <p:spPr>
          <a:xfrm>
            <a:off x="4125278" y="1711642"/>
            <a:ext cx="1814513"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Weeks 1-4 | Foundation Setting</a:t>
            </a:r>
            <a:endParaRPr lang="en-US" sz="950" dirty="0"/>
          </a:p>
        </p:txBody>
      </p:sp>
      <p:sp>
        <p:nvSpPr>
          <p:cNvPr id="11" name="Text 8"/>
          <p:cNvSpPr/>
          <p:nvPr/>
        </p:nvSpPr>
        <p:spPr>
          <a:xfrm>
            <a:off x="4125278" y="1926193"/>
            <a:ext cx="6776561"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AS/400 system inventory: identify source files, DB2 tables, program dependencies</a:t>
            </a:r>
            <a:endParaRPr lang="en-US" sz="750" dirty="0"/>
          </a:p>
        </p:txBody>
      </p:sp>
      <p:sp>
        <p:nvSpPr>
          <p:cNvPr id="12" name="Text 9"/>
          <p:cNvSpPr/>
          <p:nvPr/>
        </p:nvSpPr>
        <p:spPr>
          <a:xfrm>
            <a:off x="4125278" y="2119432"/>
            <a:ext cx="6776561"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Network architecture review: firewall rules, TLS certificate provisioning, egress paths</a:t>
            </a:r>
            <a:endParaRPr lang="en-US" sz="750" dirty="0"/>
          </a:p>
        </p:txBody>
      </p:sp>
      <p:sp>
        <p:nvSpPr>
          <p:cNvPr id="13" name="Text 10"/>
          <p:cNvSpPr/>
          <p:nvPr/>
        </p:nvSpPr>
        <p:spPr>
          <a:xfrm>
            <a:off x="4125278" y="2312670"/>
            <a:ext cx="6776561"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AWS account setup: VPC design, IAM roles, S3 buckets with encryption and lifecycle policies</a:t>
            </a:r>
            <a:endParaRPr lang="en-US" sz="750" dirty="0"/>
          </a:p>
        </p:txBody>
      </p:sp>
      <p:sp>
        <p:nvSpPr>
          <p:cNvPr id="14" name="Text 11"/>
          <p:cNvSpPr/>
          <p:nvPr/>
        </p:nvSpPr>
        <p:spPr>
          <a:xfrm>
            <a:off x="4125278" y="2505908"/>
            <a:ext cx="6776561"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Proof-of-concept: JT400 connectivity test, EBCDIC conversion validation</a:t>
            </a:r>
            <a:endParaRPr lang="en-US" sz="750" dirty="0"/>
          </a:p>
        </p:txBody>
      </p:sp>
      <p:sp>
        <p:nvSpPr>
          <p:cNvPr id="15" name="Text 12"/>
          <p:cNvSpPr/>
          <p:nvPr/>
        </p:nvSpPr>
        <p:spPr>
          <a:xfrm>
            <a:off x="4125278" y="2699147"/>
            <a:ext cx="6776561"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Stakeholder alignment: SLA definitions, alerting thresholds, escalation procedures</a:t>
            </a:r>
            <a:endParaRPr lang="en-US" sz="750" dirty="0"/>
          </a:p>
        </p:txBody>
      </p:sp>
      <p:sp>
        <p:nvSpPr>
          <p:cNvPr id="16" name="Text 13"/>
          <p:cNvSpPr/>
          <p:nvPr/>
        </p:nvSpPr>
        <p:spPr>
          <a:xfrm>
            <a:off x="4125278" y="2917269"/>
            <a:ext cx="6776561"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Key Deliverable: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Technical design document with network diagrams, data flow specifications, and risk mitigation strategies</a:t>
            </a:r>
            <a:endParaRPr lang="en-US" sz="750" dirty="0"/>
          </a:p>
        </p:txBody>
      </p:sp>
      <p:sp>
        <p:nvSpPr>
          <p:cNvPr id="17" name="Shape 14"/>
          <p:cNvSpPr/>
          <p:nvPr/>
        </p:nvSpPr>
        <p:spPr>
          <a:xfrm>
            <a:off x="3976449" y="3423047"/>
            <a:ext cx="99179" cy="1604605"/>
          </a:xfrm>
          <a:prstGeom prst="roundRect">
            <a:avLst>
              <a:gd name="adj" fmla="val 42025"/>
            </a:avLst>
          </a:prstGeom>
          <a:solidFill>
            <a:srgbClr val="283157"/>
          </a:solidFill>
          <a:ln w="7620">
            <a:solidFill>
              <a:srgbClr val="414A70"/>
            </a:solidFill>
            <a:prstDash val="solid"/>
          </a:ln>
        </p:spPr>
      </p:sp>
      <p:sp>
        <p:nvSpPr>
          <p:cNvPr id="18" name="Shape 15"/>
          <p:cNvSpPr/>
          <p:nvPr/>
        </p:nvSpPr>
        <p:spPr>
          <a:xfrm>
            <a:off x="3877270" y="3342442"/>
            <a:ext cx="297656" cy="297656"/>
          </a:xfrm>
          <a:prstGeom prst="roundRect">
            <a:avLst>
              <a:gd name="adj" fmla="val 153600"/>
            </a:avLst>
          </a:prstGeom>
          <a:solidFill>
            <a:srgbClr val="283157"/>
          </a:solidFill>
          <a:ln w="7620">
            <a:solidFill>
              <a:srgbClr val="414A70"/>
            </a:solidFill>
            <a:prstDash val="solid"/>
          </a:ln>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51684" y="3416856"/>
            <a:ext cx="148828" cy="148828"/>
          </a:xfrm>
          <a:prstGeom prst="rect">
            <a:avLst/>
          </a:prstGeom>
        </p:spPr>
      </p:pic>
      <p:sp>
        <p:nvSpPr>
          <p:cNvPr id="20" name="Text 16"/>
          <p:cNvSpPr/>
          <p:nvPr/>
        </p:nvSpPr>
        <p:spPr>
          <a:xfrm>
            <a:off x="4274106" y="3373398"/>
            <a:ext cx="1942981"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Phase 2: Core Development</a:t>
            </a:r>
            <a:endParaRPr lang="en-US" sz="1150" dirty="0"/>
          </a:p>
        </p:txBody>
      </p:sp>
      <p:sp>
        <p:nvSpPr>
          <p:cNvPr id="21" name="Text 17"/>
          <p:cNvSpPr/>
          <p:nvPr/>
        </p:nvSpPr>
        <p:spPr>
          <a:xfrm>
            <a:off x="4274106" y="3599021"/>
            <a:ext cx="2458522"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Weeks 5-24 | Component Implementation</a:t>
            </a:r>
            <a:endParaRPr lang="en-US" sz="950" dirty="0"/>
          </a:p>
        </p:txBody>
      </p:sp>
      <p:sp>
        <p:nvSpPr>
          <p:cNvPr id="22" name="Text 18"/>
          <p:cNvSpPr/>
          <p:nvPr/>
        </p:nvSpPr>
        <p:spPr>
          <a:xfrm>
            <a:off x="4274106" y="3813572"/>
            <a:ext cx="6627733"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Weeks 5-10:</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AS/400 daemon program (RPG/CL) for file polling and DB2 querying, with checkpointing and error handling</a:t>
            </a:r>
            <a:endParaRPr lang="en-US" sz="750" dirty="0"/>
          </a:p>
        </p:txBody>
      </p:sp>
      <p:sp>
        <p:nvSpPr>
          <p:cNvPr id="23" name="Text 19"/>
          <p:cNvSpPr/>
          <p:nvPr/>
        </p:nvSpPr>
        <p:spPr>
          <a:xfrm>
            <a:off x="4274106" y="4006810"/>
            <a:ext cx="6627733"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Weeks 11-18:</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iSeries-Otel-Bridge Java application with JT400 integration, OTLP proto generation, and gRPC client</a:t>
            </a:r>
            <a:endParaRPr lang="en-US" sz="750" dirty="0"/>
          </a:p>
        </p:txBody>
      </p:sp>
      <p:sp>
        <p:nvSpPr>
          <p:cNvPr id="24" name="Text 20"/>
          <p:cNvSpPr/>
          <p:nvPr/>
        </p:nvSpPr>
        <p:spPr>
          <a:xfrm>
            <a:off x="4274106" y="4200049"/>
            <a:ext cx="6627733"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Weeks 19-22:</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AWS infrastructure as code (Terraform/CloudFormation): X-Ray configuration, CloudWatch dashboards, S3 lifecycle</a:t>
            </a:r>
            <a:endParaRPr lang="en-US" sz="750" dirty="0"/>
          </a:p>
        </p:txBody>
      </p:sp>
      <p:sp>
        <p:nvSpPr>
          <p:cNvPr id="25" name="Text 21"/>
          <p:cNvSpPr/>
          <p:nvPr/>
        </p:nvSpPr>
        <p:spPr>
          <a:xfrm>
            <a:off x="4274106" y="4393287"/>
            <a:ext cx="6627733"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Weeks 23-24:</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Grafana dashboard templates, custom queries, alerting rules, runbook documentation</a:t>
            </a:r>
            <a:endParaRPr lang="en-US" sz="750" dirty="0"/>
          </a:p>
        </p:txBody>
      </p:sp>
      <p:sp>
        <p:nvSpPr>
          <p:cNvPr id="26" name="Text 22"/>
          <p:cNvSpPr/>
          <p:nvPr/>
        </p:nvSpPr>
        <p:spPr>
          <a:xfrm>
            <a:off x="4274106" y="4611410"/>
            <a:ext cx="6627733" cy="317183"/>
          </a:xfrm>
          <a:prstGeom prst="rect">
            <a:avLst/>
          </a:prstGeom>
          <a:noFill/>
          <a:ln/>
        </p:spPr>
        <p:txBody>
          <a:bodyPr wrap="squar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Key Deliverable: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Fully functional integration pipeline with unit test coverage &gt;80% and automated CI/CD deployment to staging environment</a:t>
            </a:r>
            <a:endParaRPr lang="en-US" sz="750" dirty="0"/>
          </a:p>
        </p:txBody>
      </p:sp>
      <p:sp>
        <p:nvSpPr>
          <p:cNvPr id="27" name="Shape 23"/>
          <p:cNvSpPr/>
          <p:nvPr/>
        </p:nvSpPr>
        <p:spPr>
          <a:xfrm>
            <a:off x="4125278" y="5275778"/>
            <a:ext cx="99179" cy="1639253"/>
          </a:xfrm>
          <a:prstGeom prst="roundRect">
            <a:avLst>
              <a:gd name="adj" fmla="val 42025"/>
            </a:avLst>
          </a:prstGeom>
          <a:solidFill>
            <a:srgbClr val="283157"/>
          </a:solidFill>
          <a:ln w="7620">
            <a:solidFill>
              <a:srgbClr val="414A70"/>
            </a:solidFill>
            <a:prstDash val="solid"/>
          </a:ln>
        </p:spPr>
      </p:sp>
      <p:sp>
        <p:nvSpPr>
          <p:cNvPr id="28" name="Shape 24"/>
          <p:cNvSpPr/>
          <p:nvPr/>
        </p:nvSpPr>
        <p:spPr>
          <a:xfrm>
            <a:off x="4026098" y="5195173"/>
            <a:ext cx="297656" cy="297656"/>
          </a:xfrm>
          <a:prstGeom prst="roundRect">
            <a:avLst>
              <a:gd name="adj" fmla="val 153600"/>
            </a:avLst>
          </a:prstGeom>
          <a:solidFill>
            <a:srgbClr val="283157"/>
          </a:solidFill>
          <a:ln w="7620">
            <a:solidFill>
              <a:srgbClr val="414A70"/>
            </a:solidFill>
            <a:prstDash val="solid"/>
          </a:ln>
        </p:spPr>
      </p:sp>
      <p:pic>
        <p:nvPicPr>
          <p:cNvPr id="2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00513" y="5269587"/>
            <a:ext cx="148828" cy="148828"/>
          </a:xfrm>
          <a:prstGeom prst="rect">
            <a:avLst/>
          </a:prstGeom>
        </p:spPr>
      </p:pic>
      <p:sp>
        <p:nvSpPr>
          <p:cNvPr id="30" name="Text 25"/>
          <p:cNvSpPr/>
          <p:nvPr/>
        </p:nvSpPr>
        <p:spPr>
          <a:xfrm>
            <a:off x="4422934" y="5226129"/>
            <a:ext cx="2284333"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Phase 3: Comprehensive Testing</a:t>
            </a:r>
            <a:endParaRPr lang="en-US" sz="1150" dirty="0"/>
          </a:p>
        </p:txBody>
      </p:sp>
      <p:sp>
        <p:nvSpPr>
          <p:cNvPr id="31" name="Text 26"/>
          <p:cNvSpPr/>
          <p:nvPr/>
        </p:nvSpPr>
        <p:spPr>
          <a:xfrm>
            <a:off x="4422934" y="5451753"/>
            <a:ext cx="1932265"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Weeks 25-28 | Quality Assurance</a:t>
            </a:r>
            <a:endParaRPr lang="en-US" sz="950" dirty="0"/>
          </a:p>
        </p:txBody>
      </p:sp>
      <p:sp>
        <p:nvSpPr>
          <p:cNvPr id="32" name="Text 27"/>
          <p:cNvSpPr/>
          <p:nvPr/>
        </p:nvSpPr>
        <p:spPr>
          <a:xfrm>
            <a:off x="4422934" y="5666303"/>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Unit testing:</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JT400 data access layer, OTLP conversion logic, error handling paths</a:t>
            </a:r>
            <a:endParaRPr lang="en-US" sz="750" dirty="0"/>
          </a:p>
        </p:txBody>
      </p:sp>
      <p:sp>
        <p:nvSpPr>
          <p:cNvPr id="33" name="Text 28"/>
          <p:cNvSpPr/>
          <p:nvPr/>
        </p:nvSpPr>
        <p:spPr>
          <a:xfrm>
            <a:off x="4422934" y="5859542"/>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Integration testing:</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End-to-end trace propagation, S3 upload retry logic, backend ingestion verification</a:t>
            </a:r>
            <a:endParaRPr lang="en-US" sz="750" dirty="0"/>
          </a:p>
        </p:txBody>
      </p:sp>
      <p:sp>
        <p:nvSpPr>
          <p:cNvPr id="34" name="Text 29"/>
          <p:cNvSpPr/>
          <p:nvPr/>
        </p:nvSpPr>
        <p:spPr>
          <a:xfrm>
            <a:off x="4422934" y="6052780"/>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Performance testing:</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1M records/hour sustained load, memory profiling, GC tuning, latency percentiles (p50/p95/p99)</a:t>
            </a:r>
            <a:endParaRPr lang="en-US" sz="750" dirty="0"/>
          </a:p>
        </p:txBody>
      </p:sp>
      <p:sp>
        <p:nvSpPr>
          <p:cNvPr id="35" name="Text 30"/>
          <p:cNvSpPr/>
          <p:nvPr/>
        </p:nvSpPr>
        <p:spPr>
          <a:xfrm>
            <a:off x="4422934" y="6246019"/>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Failure mode testing:</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Network partitions, AS/400 file locks, S3 outages, backend unavailability scenarios</a:t>
            </a:r>
            <a:endParaRPr lang="en-US" sz="750" dirty="0"/>
          </a:p>
        </p:txBody>
      </p:sp>
      <p:sp>
        <p:nvSpPr>
          <p:cNvPr id="36" name="Text 31"/>
          <p:cNvSpPr/>
          <p:nvPr/>
        </p:nvSpPr>
        <p:spPr>
          <a:xfrm>
            <a:off x="4422934" y="6439257"/>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Security review:</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Penetration testing, credential rotation procedures, TLS configuration audit</a:t>
            </a:r>
            <a:endParaRPr lang="en-US" sz="750" dirty="0"/>
          </a:p>
        </p:txBody>
      </p:sp>
      <p:sp>
        <p:nvSpPr>
          <p:cNvPr id="37" name="Text 32"/>
          <p:cNvSpPr/>
          <p:nvPr/>
        </p:nvSpPr>
        <p:spPr>
          <a:xfrm>
            <a:off x="4422934" y="6657380"/>
            <a:ext cx="6478905"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Key Deliverable: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Test report with performance benchmarks, failure recovery validation, and security compliance sign-off</a:t>
            </a:r>
            <a:endParaRPr lang="en-US" sz="750" dirty="0"/>
          </a:p>
        </p:txBody>
      </p:sp>
      <p:sp>
        <p:nvSpPr>
          <p:cNvPr id="38" name="Shape 33"/>
          <p:cNvSpPr/>
          <p:nvPr/>
        </p:nvSpPr>
        <p:spPr>
          <a:xfrm>
            <a:off x="4274106" y="7163157"/>
            <a:ext cx="99179" cy="1639253"/>
          </a:xfrm>
          <a:prstGeom prst="roundRect">
            <a:avLst>
              <a:gd name="adj" fmla="val 42025"/>
            </a:avLst>
          </a:prstGeom>
          <a:solidFill>
            <a:srgbClr val="283157"/>
          </a:solidFill>
          <a:ln w="7620">
            <a:solidFill>
              <a:srgbClr val="414A70"/>
            </a:solidFill>
            <a:prstDash val="solid"/>
          </a:ln>
        </p:spPr>
      </p:sp>
      <p:sp>
        <p:nvSpPr>
          <p:cNvPr id="39" name="Shape 34"/>
          <p:cNvSpPr/>
          <p:nvPr/>
        </p:nvSpPr>
        <p:spPr>
          <a:xfrm>
            <a:off x="4174927" y="7082552"/>
            <a:ext cx="297656" cy="297656"/>
          </a:xfrm>
          <a:prstGeom prst="roundRect">
            <a:avLst>
              <a:gd name="adj" fmla="val 153600"/>
            </a:avLst>
          </a:prstGeom>
          <a:solidFill>
            <a:srgbClr val="283157"/>
          </a:solidFill>
          <a:ln w="7620">
            <a:solidFill>
              <a:srgbClr val="414A70"/>
            </a:solidFill>
            <a:prstDash val="solid"/>
          </a:ln>
        </p:spPr>
      </p:sp>
      <p:pic>
        <p:nvPicPr>
          <p:cNvPr id="4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49341" y="7156966"/>
            <a:ext cx="148828" cy="148828"/>
          </a:xfrm>
          <a:prstGeom prst="rect">
            <a:avLst/>
          </a:prstGeom>
        </p:spPr>
      </p:pic>
      <p:sp>
        <p:nvSpPr>
          <p:cNvPr id="41" name="Text 35"/>
          <p:cNvSpPr/>
          <p:nvPr/>
        </p:nvSpPr>
        <p:spPr>
          <a:xfrm>
            <a:off x="4571762" y="7113508"/>
            <a:ext cx="1864400"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Phase 4: Pilot Deployment</a:t>
            </a:r>
            <a:endParaRPr lang="en-US" sz="1150" dirty="0"/>
          </a:p>
        </p:txBody>
      </p:sp>
      <p:sp>
        <p:nvSpPr>
          <p:cNvPr id="42" name="Text 36"/>
          <p:cNvSpPr/>
          <p:nvPr/>
        </p:nvSpPr>
        <p:spPr>
          <a:xfrm>
            <a:off x="4571762" y="7339132"/>
            <a:ext cx="1696522"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Week 29 | Controlled Rollout</a:t>
            </a:r>
            <a:endParaRPr lang="en-US" sz="950" dirty="0"/>
          </a:p>
        </p:txBody>
      </p:sp>
      <p:sp>
        <p:nvSpPr>
          <p:cNvPr id="43" name="Text 37"/>
          <p:cNvSpPr/>
          <p:nvPr/>
        </p:nvSpPr>
        <p:spPr>
          <a:xfrm>
            <a:off x="4571762" y="7553682"/>
            <a:ext cx="633007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Deploy to non-production AS/400 partition (development or QA environment)</a:t>
            </a:r>
            <a:endParaRPr lang="en-US" sz="750" dirty="0"/>
          </a:p>
        </p:txBody>
      </p:sp>
      <p:sp>
        <p:nvSpPr>
          <p:cNvPr id="44" name="Text 38"/>
          <p:cNvSpPr/>
          <p:nvPr/>
        </p:nvSpPr>
        <p:spPr>
          <a:xfrm>
            <a:off x="4571762" y="7746921"/>
            <a:ext cx="633007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Monitor for 1 week with 24/7 on-call coverage</a:t>
            </a:r>
            <a:endParaRPr lang="en-US" sz="750" dirty="0"/>
          </a:p>
        </p:txBody>
      </p:sp>
      <p:sp>
        <p:nvSpPr>
          <p:cNvPr id="45" name="Text 39"/>
          <p:cNvSpPr/>
          <p:nvPr/>
        </p:nvSpPr>
        <p:spPr>
          <a:xfrm>
            <a:off x="4571762" y="7940159"/>
            <a:ext cx="633007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Tune batch sizes, polling intervals, and retry parameters based on observed metrics</a:t>
            </a:r>
            <a:endParaRPr lang="en-US" sz="750" dirty="0"/>
          </a:p>
        </p:txBody>
      </p:sp>
      <p:sp>
        <p:nvSpPr>
          <p:cNvPr id="46" name="Text 40"/>
          <p:cNvSpPr/>
          <p:nvPr/>
        </p:nvSpPr>
        <p:spPr>
          <a:xfrm>
            <a:off x="4571762" y="8133398"/>
            <a:ext cx="633007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Validate trace accuracy by manual comparison with AS/400 job logs</a:t>
            </a:r>
            <a:endParaRPr lang="en-US" sz="750" dirty="0"/>
          </a:p>
        </p:txBody>
      </p:sp>
      <p:sp>
        <p:nvSpPr>
          <p:cNvPr id="47" name="Text 41"/>
          <p:cNvSpPr/>
          <p:nvPr/>
        </p:nvSpPr>
        <p:spPr>
          <a:xfrm>
            <a:off x="4571762" y="8326636"/>
            <a:ext cx="633007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Conduct SRE team training sessions on dashboard usage and troubleshooting workflows</a:t>
            </a:r>
            <a:endParaRPr lang="en-US" sz="750" dirty="0"/>
          </a:p>
        </p:txBody>
      </p:sp>
      <p:sp>
        <p:nvSpPr>
          <p:cNvPr id="48" name="Text 42"/>
          <p:cNvSpPr/>
          <p:nvPr/>
        </p:nvSpPr>
        <p:spPr>
          <a:xfrm>
            <a:off x="4571762" y="8544758"/>
            <a:ext cx="6330077"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Key Deliverable: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Pilot summary report with lessons learned, configuration recommendations, and production readiness approval</a:t>
            </a:r>
            <a:endParaRPr lang="en-US" sz="750" dirty="0"/>
          </a:p>
        </p:txBody>
      </p:sp>
      <p:sp>
        <p:nvSpPr>
          <p:cNvPr id="49" name="Shape 43"/>
          <p:cNvSpPr/>
          <p:nvPr/>
        </p:nvSpPr>
        <p:spPr>
          <a:xfrm>
            <a:off x="4125278" y="9050536"/>
            <a:ext cx="99179" cy="1604605"/>
          </a:xfrm>
          <a:prstGeom prst="roundRect">
            <a:avLst>
              <a:gd name="adj" fmla="val 42025"/>
            </a:avLst>
          </a:prstGeom>
          <a:solidFill>
            <a:srgbClr val="283157"/>
          </a:solidFill>
          <a:ln w="7620">
            <a:solidFill>
              <a:srgbClr val="414A70"/>
            </a:solidFill>
            <a:prstDash val="solid"/>
          </a:ln>
        </p:spPr>
      </p:sp>
      <p:sp>
        <p:nvSpPr>
          <p:cNvPr id="50" name="Shape 44"/>
          <p:cNvSpPr/>
          <p:nvPr/>
        </p:nvSpPr>
        <p:spPr>
          <a:xfrm>
            <a:off x="4026098" y="8969931"/>
            <a:ext cx="297656" cy="297656"/>
          </a:xfrm>
          <a:prstGeom prst="roundRect">
            <a:avLst>
              <a:gd name="adj" fmla="val 153600"/>
            </a:avLst>
          </a:prstGeom>
          <a:solidFill>
            <a:srgbClr val="283157"/>
          </a:solidFill>
          <a:ln w="7620">
            <a:solidFill>
              <a:srgbClr val="414A70"/>
            </a:solidFill>
            <a:prstDash val="solid"/>
          </a:ln>
        </p:spPr>
      </p:sp>
      <p:pic>
        <p:nvPicPr>
          <p:cNvPr id="5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00513" y="9044345"/>
            <a:ext cx="148828" cy="148828"/>
          </a:xfrm>
          <a:prstGeom prst="rect">
            <a:avLst/>
          </a:prstGeom>
        </p:spPr>
      </p:pic>
      <p:sp>
        <p:nvSpPr>
          <p:cNvPr id="52" name="Text 45"/>
          <p:cNvSpPr/>
          <p:nvPr/>
        </p:nvSpPr>
        <p:spPr>
          <a:xfrm>
            <a:off x="4422934" y="9000887"/>
            <a:ext cx="1977152" cy="185976"/>
          </a:xfrm>
          <a:prstGeom prst="rect">
            <a:avLst/>
          </a:prstGeom>
          <a:noFill/>
          <a:ln/>
        </p:spPr>
        <p:txBody>
          <a:bodyPr wrap="none" lIns="0" tIns="0" rIns="0" bIns="0" rtlCol="0" anchor="t"/>
          <a:lstStyle/>
          <a:p>
            <a:pPr algn="l" indent="0" marL="0">
              <a:lnSpc>
                <a:spcPts val="1450"/>
              </a:lnSpc>
              <a:buNone/>
            </a:pPr>
            <a:r>
              <a:rPr lang="en-US" sz="1150" dirty="0">
                <a:solidFill>
                  <a:srgbClr val="EBECEF"/>
                </a:solidFill>
                <a:latin typeface="Fraunces Medium" pitchFamily="34" charset="0"/>
                <a:ea typeface="Fraunces Medium" pitchFamily="34" charset="-122"/>
                <a:cs typeface="Fraunces Medium" pitchFamily="34" charset="-120"/>
              </a:rPr>
              <a:t>Phase 5: Production Rollout</a:t>
            </a:r>
            <a:endParaRPr lang="en-US" sz="1150" dirty="0"/>
          </a:p>
        </p:txBody>
      </p:sp>
      <p:sp>
        <p:nvSpPr>
          <p:cNvPr id="53" name="Text 46"/>
          <p:cNvSpPr/>
          <p:nvPr/>
        </p:nvSpPr>
        <p:spPr>
          <a:xfrm>
            <a:off x="4422934" y="9226510"/>
            <a:ext cx="1571387" cy="155019"/>
          </a:xfrm>
          <a:prstGeom prst="rect">
            <a:avLst/>
          </a:prstGeom>
          <a:noFill/>
          <a:ln/>
        </p:spPr>
        <p:txBody>
          <a:bodyPr wrap="none" lIns="0" tIns="0" rIns="0" bIns="0" rtlCol="0" anchor="t"/>
          <a:lstStyle/>
          <a:p>
            <a:pPr algn="l"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Week 32 | Full Deployment</a:t>
            </a:r>
            <a:endParaRPr lang="en-US" sz="950" dirty="0"/>
          </a:p>
        </p:txBody>
      </p:sp>
      <p:sp>
        <p:nvSpPr>
          <p:cNvPr id="54" name="Text 47"/>
          <p:cNvSpPr/>
          <p:nvPr/>
        </p:nvSpPr>
        <p:spPr>
          <a:xfrm>
            <a:off x="4422934" y="9441061"/>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Week 32 Monday:</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Deploy to production AS/400 during maintenance window</a:t>
            </a:r>
            <a:endParaRPr lang="en-US" sz="750" dirty="0"/>
          </a:p>
        </p:txBody>
      </p:sp>
      <p:sp>
        <p:nvSpPr>
          <p:cNvPr id="55" name="Text 48"/>
          <p:cNvSpPr/>
          <p:nvPr/>
        </p:nvSpPr>
        <p:spPr>
          <a:xfrm>
            <a:off x="4422934" y="9634299"/>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Week 32 Tue-Thu:</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Gradual traffic ramp from 10% → 50% → 100% with canary monitoring</a:t>
            </a:r>
            <a:endParaRPr lang="en-US" sz="750" dirty="0"/>
          </a:p>
        </p:txBody>
      </p:sp>
      <p:sp>
        <p:nvSpPr>
          <p:cNvPr id="56" name="Text 49"/>
          <p:cNvSpPr/>
          <p:nvPr/>
        </p:nvSpPr>
        <p:spPr>
          <a:xfrm>
            <a:off x="4422934" y="9827538"/>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Week 32 Friday:</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Conduct retrospective, document operational runbooks, transfer knowledge to support teams</a:t>
            </a:r>
            <a:endParaRPr lang="en-US" sz="750" dirty="0"/>
          </a:p>
        </p:txBody>
      </p:sp>
      <p:sp>
        <p:nvSpPr>
          <p:cNvPr id="57" name="Text 50"/>
          <p:cNvSpPr/>
          <p:nvPr/>
        </p:nvSpPr>
        <p:spPr>
          <a:xfrm>
            <a:off x="4422934" y="10020776"/>
            <a:ext cx="6478905"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EBECEF"/>
                </a:solidFill>
                <a:latin typeface="Epilogue" pitchFamily="34" charset="0"/>
                <a:ea typeface="Epilogue" pitchFamily="34" charset="-122"/>
                <a:cs typeface="Epilogue" pitchFamily="34" charset="-120"/>
              </a:rPr>
              <a:t>Establish ongoing maintenance schedule: weekly health checks, monthly performance reviews, quarterly capacity planning</a:t>
            </a:r>
            <a:endParaRPr lang="en-US" sz="750" dirty="0"/>
          </a:p>
        </p:txBody>
      </p:sp>
      <p:sp>
        <p:nvSpPr>
          <p:cNvPr id="58" name="Text 51"/>
          <p:cNvSpPr/>
          <p:nvPr/>
        </p:nvSpPr>
        <p:spPr>
          <a:xfrm>
            <a:off x="4422934" y="10238899"/>
            <a:ext cx="6478905" cy="317183"/>
          </a:xfrm>
          <a:prstGeom prst="rect">
            <a:avLst/>
          </a:prstGeom>
          <a:noFill/>
          <a:ln/>
        </p:spPr>
        <p:txBody>
          <a:bodyPr wrap="squar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Key Deliverable:</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Production launch announcement, operational handoff documentation, and post-deployment success metrics dashboard</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3728442" y="272891"/>
            <a:ext cx="793909" cy="186571"/>
          </a:xfrm>
          <a:prstGeom prst="roundRect">
            <a:avLst>
              <a:gd name="adj" fmla="val 17872"/>
            </a:avLst>
          </a:prstGeom>
          <a:solidFill>
            <a:srgbClr val="181E34"/>
          </a:solidFill>
          <a:ln/>
        </p:spPr>
      </p:sp>
      <p:sp>
        <p:nvSpPr>
          <p:cNvPr id="3" name="Text 1"/>
          <p:cNvSpPr/>
          <p:nvPr/>
        </p:nvSpPr>
        <p:spPr>
          <a:xfrm>
            <a:off x="3787973" y="302657"/>
            <a:ext cx="674846" cy="127040"/>
          </a:xfrm>
          <a:prstGeom prst="rect">
            <a:avLst/>
          </a:prstGeom>
          <a:noFill/>
          <a:ln/>
        </p:spPr>
        <p:txBody>
          <a:bodyPr wrap="none" lIns="0" tIns="0" rIns="0" bIns="0" rtlCol="0" anchor="t"/>
          <a:lstStyle/>
          <a:p>
            <a:pPr algn="l" indent="0" marL="0">
              <a:lnSpc>
                <a:spcPts val="1000"/>
              </a:lnSpc>
              <a:buNone/>
            </a:pPr>
            <a:r>
              <a:rPr lang="en-US" sz="600" dirty="0">
                <a:solidFill>
                  <a:srgbClr val="EBECEF"/>
                </a:solidFill>
                <a:latin typeface="Epilogue" pitchFamily="34" charset="0"/>
                <a:ea typeface="Epilogue" pitchFamily="34" charset="-122"/>
                <a:cs typeface="Epilogue" pitchFamily="34" charset="-120"/>
              </a:rPr>
              <a:t>SUCCESS METRICS</a:t>
            </a:r>
            <a:endParaRPr lang="en-US" sz="600" dirty="0"/>
          </a:p>
        </p:txBody>
      </p:sp>
      <p:sp>
        <p:nvSpPr>
          <p:cNvPr id="4" name="Text 2"/>
          <p:cNvSpPr/>
          <p:nvPr/>
        </p:nvSpPr>
        <p:spPr>
          <a:xfrm>
            <a:off x="3728442" y="499110"/>
            <a:ext cx="4276844"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Fraunces Medium" pitchFamily="34" charset="0"/>
                <a:ea typeface="Fraunces Medium" pitchFamily="34" charset="-122"/>
                <a:cs typeface="Fraunces Medium" pitchFamily="34" charset="-120"/>
              </a:rPr>
              <a:t>Measuring Integration Effectiveness</a:t>
            </a:r>
            <a:endParaRPr lang="en-US" sz="1950" dirty="0"/>
          </a:p>
        </p:txBody>
      </p:sp>
      <p:sp>
        <p:nvSpPr>
          <p:cNvPr id="5" name="Text 3"/>
          <p:cNvSpPr/>
          <p:nvPr/>
        </p:nvSpPr>
        <p:spPr>
          <a:xfrm>
            <a:off x="3728442" y="958096"/>
            <a:ext cx="7173397" cy="317183"/>
          </a:xfrm>
          <a:prstGeom prst="rect">
            <a:avLst/>
          </a:prstGeom>
          <a:noFill/>
          <a:ln/>
        </p:spPr>
        <p:txBody>
          <a:bodyPr wrap="squar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Success criteria span technical performance, operational efficiency, and business value. These metrics provide objective indicators of system health and inform continuous improvement initiatives throughout the operational lifecycle.</a:t>
            </a:r>
            <a:endParaRPr lang="en-US" sz="750" dirty="0"/>
          </a:p>
        </p:txBody>
      </p:sp>
      <p:sp>
        <p:nvSpPr>
          <p:cNvPr id="6" name="Text 4"/>
          <p:cNvSpPr/>
          <p:nvPr/>
        </p:nvSpPr>
        <p:spPr>
          <a:xfrm>
            <a:off x="3728442" y="1486019"/>
            <a:ext cx="2030849" cy="185976"/>
          </a:xfrm>
          <a:prstGeom prst="rect">
            <a:avLst/>
          </a:prstGeom>
          <a:noFill/>
          <a:ln/>
        </p:spPr>
        <p:txBody>
          <a:bodyPr wrap="none" lIns="0" tIns="0" rIns="0" bIns="0" rtlCol="0" anchor="t"/>
          <a:lstStyle/>
          <a:p>
            <a:pPr algn="l" indent="0" marL="0">
              <a:lnSpc>
                <a:spcPts val="1450"/>
              </a:lnSpc>
              <a:buNone/>
            </a:pPr>
            <a:r>
              <a:rPr lang="en-US" sz="1150" dirty="0">
                <a:solidFill>
                  <a:srgbClr val="FFFFFF"/>
                </a:solidFill>
                <a:latin typeface="Fraunces Medium" pitchFamily="34" charset="0"/>
                <a:ea typeface="Fraunces Medium" pitchFamily="34" charset="-122"/>
                <a:cs typeface="Fraunces Medium" pitchFamily="34" charset="-120"/>
              </a:rPr>
              <a:t>Technical Performance KPIs</a:t>
            </a:r>
            <a:endParaRPr lang="en-US" sz="1150" dirty="0"/>
          </a:p>
        </p:txBody>
      </p:sp>
      <p:sp>
        <p:nvSpPr>
          <p:cNvPr id="7" name="Text 5"/>
          <p:cNvSpPr/>
          <p:nvPr/>
        </p:nvSpPr>
        <p:spPr>
          <a:xfrm>
            <a:off x="4850963" y="2428518"/>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EBECEF"/>
                </a:solidFill>
                <a:latin typeface="Fraunces Medium" pitchFamily="34" charset="0"/>
                <a:ea typeface="Fraunces Medium" pitchFamily="34" charset="-122"/>
                <a:cs typeface="Fraunces Medium" pitchFamily="34" charset="-120"/>
              </a:rPr>
              <a:t>99.9%</a:t>
            </a:r>
            <a:endParaRPr lang="en-US" sz="1950" dirty="0"/>
          </a:p>
        </p:txBody>
      </p:sp>
      <p:pic>
        <p:nvPicPr>
          <p:cNvPr id="8" name="Image 0" descr="preencoded.png">    </p:cNvPr>
          <p:cNvPicPr>
            <a:picLocks noChangeAspect="1"/>
          </p:cNvPicPr>
          <p:nvPr/>
        </p:nvPicPr>
        <p:blipFill>
          <a:blip r:embed="rId1"/>
          <a:stretch>
            <a:fillRect/>
          </a:stretch>
        </p:blipFill>
        <p:spPr>
          <a:xfrm>
            <a:off x="4717018" y="1808321"/>
            <a:ext cx="1488519" cy="1488519"/>
          </a:xfrm>
          <a:prstGeom prst="rect">
            <a:avLst/>
          </a:prstGeom>
        </p:spPr>
      </p:pic>
      <p:sp>
        <p:nvSpPr>
          <p:cNvPr id="9" name="Text 6"/>
          <p:cNvSpPr/>
          <p:nvPr/>
        </p:nvSpPr>
        <p:spPr>
          <a:xfrm>
            <a:off x="4773573" y="3420785"/>
            <a:ext cx="1375410" cy="155019"/>
          </a:xfrm>
          <a:prstGeom prst="rect">
            <a:avLst/>
          </a:prstGeom>
          <a:noFill/>
          <a:ln/>
        </p:spPr>
        <p:txBody>
          <a:bodyPr wrap="none" lIns="0" tIns="0" rIns="0" bIns="0" rtlCol="0" anchor="t"/>
          <a:lstStyle/>
          <a:p>
            <a:pPr algn="ctr"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Data Collection Uptime</a:t>
            </a:r>
            <a:endParaRPr lang="en-US" sz="950" dirty="0"/>
          </a:p>
        </p:txBody>
      </p:sp>
      <p:sp>
        <p:nvSpPr>
          <p:cNvPr id="10" name="Text 7"/>
          <p:cNvSpPr/>
          <p:nvPr/>
        </p:nvSpPr>
        <p:spPr>
          <a:xfrm>
            <a:off x="3728442" y="3674983"/>
            <a:ext cx="3465671" cy="317183"/>
          </a:xfrm>
          <a:prstGeom prst="rect">
            <a:avLst/>
          </a:prstGeom>
          <a:noFill/>
          <a:ln/>
        </p:spPr>
        <p:txBody>
          <a:bodyPr wrap="square" lIns="0" tIns="0" rIns="0" bIns="0" rtlCol="0" anchor="t"/>
          <a:lstStyle/>
          <a:p>
            <a:pPr algn="ctr" indent="0" marL="0">
              <a:lnSpc>
                <a:spcPts val="1250"/>
              </a:lnSpc>
              <a:buNone/>
            </a:pPr>
            <a:r>
              <a:rPr lang="en-US" sz="750" dirty="0">
                <a:solidFill>
                  <a:srgbClr val="EBECEF"/>
                </a:solidFill>
                <a:latin typeface="Epilogue" pitchFamily="34" charset="0"/>
                <a:ea typeface="Epilogue" pitchFamily="34" charset="-122"/>
                <a:cs typeface="Epilogue" pitchFamily="34" charset="-120"/>
              </a:rPr>
              <a:t>Daemon and bridge availability excluding scheduled maintenance windows</a:t>
            </a:r>
            <a:endParaRPr lang="en-US" sz="750" dirty="0"/>
          </a:p>
        </p:txBody>
      </p:sp>
      <p:sp>
        <p:nvSpPr>
          <p:cNvPr id="11" name="Text 8"/>
          <p:cNvSpPr/>
          <p:nvPr/>
        </p:nvSpPr>
        <p:spPr>
          <a:xfrm>
            <a:off x="4850963" y="4835485"/>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EBECEF"/>
                </a:solidFill>
                <a:latin typeface="Fraunces Medium" pitchFamily="34" charset="0"/>
                <a:ea typeface="Fraunces Medium" pitchFamily="34" charset="-122"/>
                <a:cs typeface="Fraunces Medium" pitchFamily="34" charset="-120"/>
              </a:rPr>
              <a:t>&lt;2min</a:t>
            </a:r>
            <a:endParaRPr lang="en-US" sz="1950" dirty="0"/>
          </a:p>
        </p:txBody>
      </p:sp>
      <p:pic>
        <p:nvPicPr>
          <p:cNvPr id="12" name="Image 1" descr="preencoded.png">    </p:cNvPr>
          <p:cNvPicPr>
            <a:picLocks noChangeAspect="1"/>
          </p:cNvPicPr>
          <p:nvPr/>
        </p:nvPicPr>
        <p:blipFill>
          <a:blip r:embed="rId2"/>
          <a:stretch>
            <a:fillRect/>
          </a:stretch>
        </p:blipFill>
        <p:spPr>
          <a:xfrm>
            <a:off x="4717018" y="4215289"/>
            <a:ext cx="1488519" cy="1488519"/>
          </a:xfrm>
          <a:prstGeom prst="rect">
            <a:avLst/>
          </a:prstGeom>
        </p:spPr>
      </p:pic>
      <p:sp>
        <p:nvSpPr>
          <p:cNvPr id="13" name="Text 9"/>
          <p:cNvSpPr/>
          <p:nvPr/>
        </p:nvSpPr>
        <p:spPr>
          <a:xfrm>
            <a:off x="4841081" y="5827752"/>
            <a:ext cx="1240393" cy="155019"/>
          </a:xfrm>
          <a:prstGeom prst="rect">
            <a:avLst/>
          </a:prstGeom>
          <a:noFill/>
          <a:ln/>
        </p:spPr>
        <p:txBody>
          <a:bodyPr wrap="none" lIns="0" tIns="0" rIns="0" bIns="0" rtlCol="0" anchor="t"/>
          <a:lstStyle/>
          <a:p>
            <a:pPr algn="ctr"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End-to-End Latency</a:t>
            </a:r>
            <a:endParaRPr lang="en-US" sz="950" dirty="0"/>
          </a:p>
        </p:txBody>
      </p:sp>
      <p:sp>
        <p:nvSpPr>
          <p:cNvPr id="14" name="Text 10"/>
          <p:cNvSpPr/>
          <p:nvPr/>
        </p:nvSpPr>
        <p:spPr>
          <a:xfrm>
            <a:off x="3728442" y="6081951"/>
            <a:ext cx="3465671" cy="158591"/>
          </a:xfrm>
          <a:prstGeom prst="rect">
            <a:avLst/>
          </a:prstGeom>
          <a:noFill/>
          <a:ln/>
        </p:spPr>
        <p:txBody>
          <a:bodyPr wrap="none" lIns="0" tIns="0" rIns="0" bIns="0" rtlCol="0" anchor="t"/>
          <a:lstStyle/>
          <a:p>
            <a:pPr algn="ctr" indent="0" marL="0">
              <a:lnSpc>
                <a:spcPts val="1250"/>
              </a:lnSpc>
              <a:buNone/>
            </a:pPr>
            <a:r>
              <a:rPr lang="en-US" sz="750" dirty="0">
                <a:solidFill>
                  <a:srgbClr val="EBECEF"/>
                </a:solidFill>
                <a:latin typeface="Epilogue" pitchFamily="34" charset="0"/>
                <a:ea typeface="Epilogue" pitchFamily="34" charset="-122"/>
                <a:cs typeface="Epilogue" pitchFamily="34" charset="-120"/>
              </a:rPr>
              <a:t>Transaction completion to trace visibility (p95)</a:t>
            </a:r>
            <a:endParaRPr lang="en-US" sz="750" dirty="0"/>
          </a:p>
        </p:txBody>
      </p:sp>
      <p:sp>
        <p:nvSpPr>
          <p:cNvPr id="15" name="Text 11"/>
          <p:cNvSpPr/>
          <p:nvPr/>
        </p:nvSpPr>
        <p:spPr>
          <a:xfrm>
            <a:off x="4850963" y="7083862"/>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EBECEF"/>
                </a:solidFill>
                <a:latin typeface="Fraunces Medium" pitchFamily="34" charset="0"/>
                <a:ea typeface="Fraunces Medium" pitchFamily="34" charset="-122"/>
                <a:cs typeface="Fraunces Medium" pitchFamily="34" charset="-120"/>
              </a:rPr>
              <a:t>&lt;5%</a:t>
            </a:r>
            <a:endParaRPr lang="en-US" sz="1950" dirty="0"/>
          </a:p>
        </p:txBody>
      </p:sp>
      <p:pic>
        <p:nvPicPr>
          <p:cNvPr id="16" name="Image 2" descr="preencoded.png">    </p:cNvPr>
          <p:cNvPicPr>
            <a:picLocks noChangeAspect="1"/>
          </p:cNvPicPr>
          <p:nvPr/>
        </p:nvPicPr>
        <p:blipFill>
          <a:blip r:embed="rId3"/>
          <a:stretch>
            <a:fillRect/>
          </a:stretch>
        </p:blipFill>
        <p:spPr>
          <a:xfrm>
            <a:off x="4717018" y="6463665"/>
            <a:ext cx="1488519" cy="1488519"/>
          </a:xfrm>
          <a:prstGeom prst="rect">
            <a:avLst/>
          </a:prstGeom>
        </p:spPr>
      </p:pic>
      <p:sp>
        <p:nvSpPr>
          <p:cNvPr id="17" name="Text 12"/>
          <p:cNvSpPr/>
          <p:nvPr/>
        </p:nvSpPr>
        <p:spPr>
          <a:xfrm>
            <a:off x="4841081" y="8076128"/>
            <a:ext cx="1240393" cy="155019"/>
          </a:xfrm>
          <a:prstGeom prst="rect">
            <a:avLst/>
          </a:prstGeom>
          <a:noFill/>
          <a:ln/>
        </p:spPr>
        <p:txBody>
          <a:bodyPr wrap="none" lIns="0" tIns="0" rIns="0" bIns="0" rtlCol="0" anchor="t"/>
          <a:lstStyle/>
          <a:p>
            <a:pPr algn="ctr" indent="0" marL="0">
              <a:lnSpc>
                <a:spcPts val="1200"/>
              </a:lnSpc>
              <a:buNone/>
            </a:pPr>
            <a:r>
              <a:rPr lang="en-US" sz="950" dirty="0">
                <a:solidFill>
                  <a:srgbClr val="EBECEF"/>
                </a:solidFill>
                <a:latin typeface="Fraunces Medium" pitchFamily="34" charset="0"/>
                <a:ea typeface="Fraunces Medium" pitchFamily="34" charset="-122"/>
                <a:cs typeface="Fraunces Medium" pitchFamily="34" charset="-120"/>
              </a:rPr>
              <a:t>AS/400 CPU Impact</a:t>
            </a:r>
            <a:endParaRPr lang="en-US" sz="950" dirty="0"/>
          </a:p>
        </p:txBody>
      </p:sp>
      <p:sp>
        <p:nvSpPr>
          <p:cNvPr id="18" name="Text 13"/>
          <p:cNvSpPr/>
          <p:nvPr/>
        </p:nvSpPr>
        <p:spPr>
          <a:xfrm>
            <a:off x="3728442" y="8330327"/>
            <a:ext cx="3465671" cy="158591"/>
          </a:xfrm>
          <a:prstGeom prst="rect">
            <a:avLst/>
          </a:prstGeom>
          <a:noFill/>
          <a:ln/>
        </p:spPr>
        <p:txBody>
          <a:bodyPr wrap="none" lIns="0" tIns="0" rIns="0" bIns="0" rtlCol="0" anchor="t"/>
          <a:lstStyle/>
          <a:p>
            <a:pPr algn="ctr" indent="0" marL="0">
              <a:lnSpc>
                <a:spcPts val="1250"/>
              </a:lnSpc>
              <a:buNone/>
            </a:pPr>
            <a:r>
              <a:rPr lang="en-US" sz="750" dirty="0">
                <a:solidFill>
                  <a:srgbClr val="EBECEF"/>
                </a:solidFill>
                <a:latin typeface="Epilogue" pitchFamily="34" charset="0"/>
                <a:ea typeface="Epilogue" pitchFamily="34" charset="-122"/>
                <a:cs typeface="Epilogue" pitchFamily="34" charset="-120"/>
              </a:rPr>
              <a:t>Incremental CPU consumption from daemon polling and file access</a:t>
            </a:r>
            <a:endParaRPr lang="en-US" sz="750" dirty="0"/>
          </a:p>
        </p:txBody>
      </p:sp>
      <p:sp>
        <p:nvSpPr>
          <p:cNvPr id="19" name="Text 14"/>
          <p:cNvSpPr/>
          <p:nvPr/>
        </p:nvSpPr>
        <p:spPr>
          <a:xfrm>
            <a:off x="3728442" y="8600480"/>
            <a:ext cx="2034302" cy="185976"/>
          </a:xfrm>
          <a:prstGeom prst="rect">
            <a:avLst/>
          </a:prstGeom>
          <a:noFill/>
          <a:ln/>
        </p:spPr>
        <p:txBody>
          <a:bodyPr wrap="none" lIns="0" tIns="0" rIns="0" bIns="0" rtlCol="0" anchor="t"/>
          <a:lstStyle/>
          <a:p>
            <a:pPr algn="l" indent="0" marL="0">
              <a:lnSpc>
                <a:spcPts val="1450"/>
              </a:lnSpc>
              <a:buNone/>
            </a:pPr>
            <a:r>
              <a:rPr lang="en-US" sz="1150" dirty="0">
                <a:solidFill>
                  <a:srgbClr val="FFFFFF"/>
                </a:solidFill>
                <a:latin typeface="Fraunces Medium" pitchFamily="34" charset="0"/>
                <a:ea typeface="Fraunces Medium" pitchFamily="34" charset="-122"/>
                <a:cs typeface="Fraunces Medium" pitchFamily="34" charset="-120"/>
              </a:rPr>
              <a:t>Operational Efficiency Gains</a:t>
            </a:r>
            <a:endParaRPr lang="en-US" sz="1150" dirty="0"/>
          </a:p>
        </p:txBody>
      </p:sp>
      <p:sp>
        <p:nvSpPr>
          <p:cNvPr id="20" name="Text 15"/>
          <p:cNvSpPr/>
          <p:nvPr/>
        </p:nvSpPr>
        <p:spPr>
          <a:xfrm>
            <a:off x="3728442" y="8885634"/>
            <a:ext cx="3465671" cy="317183"/>
          </a:xfrm>
          <a:prstGeom prst="rect">
            <a:avLst/>
          </a:prstGeom>
          <a:noFill/>
          <a:ln/>
        </p:spPr>
        <p:txBody>
          <a:bodyPr wrap="squar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Mean Time to Detection (MTTD):</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Reduce from hours to minutes through real-time trace visibility</a:t>
            </a:r>
            <a:endParaRPr lang="en-US" sz="750" dirty="0"/>
          </a:p>
        </p:txBody>
      </p:sp>
      <p:sp>
        <p:nvSpPr>
          <p:cNvPr id="21" name="Text 16"/>
          <p:cNvSpPr/>
          <p:nvPr/>
        </p:nvSpPr>
        <p:spPr>
          <a:xfrm>
            <a:off x="3728442" y="9237464"/>
            <a:ext cx="3465671" cy="317183"/>
          </a:xfrm>
          <a:prstGeom prst="rect">
            <a:avLst/>
          </a:prstGeom>
          <a:noFill/>
          <a:ln/>
        </p:spPr>
        <p:txBody>
          <a:bodyPr wrap="squar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Mean Time to Resolution (MTTR):</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40-60% reduction via correlated logs and service maps</a:t>
            </a:r>
            <a:endParaRPr lang="en-US" sz="750" dirty="0"/>
          </a:p>
        </p:txBody>
      </p:sp>
      <p:sp>
        <p:nvSpPr>
          <p:cNvPr id="22" name="Text 17"/>
          <p:cNvSpPr/>
          <p:nvPr/>
        </p:nvSpPr>
        <p:spPr>
          <a:xfrm>
            <a:off x="3728442" y="9589294"/>
            <a:ext cx="3465671" cy="317183"/>
          </a:xfrm>
          <a:prstGeom prst="rect">
            <a:avLst/>
          </a:prstGeom>
          <a:noFill/>
          <a:ln/>
        </p:spPr>
        <p:txBody>
          <a:bodyPr wrap="squar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Manual Log Analysis Effort:</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Eliminate 80% of SSH sessions and manual DSPPFM queries</a:t>
            </a:r>
            <a:endParaRPr lang="en-US" sz="750" dirty="0"/>
          </a:p>
        </p:txBody>
      </p:sp>
      <p:sp>
        <p:nvSpPr>
          <p:cNvPr id="23" name="Text 18"/>
          <p:cNvSpPr/>
          <p:nvPr/>
        </p:nvSpPr>
        <p:spPr>
          <a:xfrm>
            <a:off x="3728442" y="9941123"/>
            <a:ext cx="3465671" cy="324802"/>
          </a:xfrm>
          <a:prstGeom prst="rect">
            <a:avLst/>
          </a:prstGeom>
          <a:noFill/>
          <a:ln/>
        </p:spPr>
        <p:txBody>
          <a:bodyPr wrap="square" lIns="0" tIns="0" rIns="0" bIns="0" rtlCol="0" anchor="t"/>
          <a:lstStyle/>
          <a:p>
            <a:pPr algn="l" marL="342900" indent="-342900">
              <a:lnSpc>
                <a:spcPts val="1250"/>
              </a:lnSpc>
              <a:buSzPct val="100000"/>
              <a:buChar char="•"/>
            </a:pPr>
            <a:r>
              <a:rPr lang="en-US" sz="750" b="1" dirty="0">
                <a:solidFill>
                  <a:srgbClr val="EBECEF"/>
                </a:solidFill>
                <a:latin typeface="Epilogue" pitchFamily="34" charset="0"/>
                <a:ea typeface="Epilogue" pitchFamily="34" charset="-122"/>
                <a:cs typeface="Epilogue" pitchFamily="34" charset="-120"/>
              </a:rPr>
              <a:t>Cross-System Debugging:</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Enable AS/400 </a:t>
            </a:r>
            <a:pPr algn="l" indent="0" marL="0">
              <a:lnSpc>
                <a:spcPts val="1250"/>
              </a:lnSpc>
              <a:buNone/>
            </a:pPr>
            <a:r>
              <a:rPr lang="en-US" sz="750" dirty="0">
                <a:solidFill>
                  <a:srgbClr val="000000"/>
                </a:solidFill>
                <a:latin typeface="Epilogue" pitchFamily="34" charset="0"/>
                <a:ea typeface="Epilogue" pitchFamily="34" charset="-122"/>
                <a:cs typeface="Epilogue" pitchFamily="34" charset="-120"/>
              </a:rPr>
              <a:t>↔</a:t>
            </a:r>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 microservice transaction tracing previously impossible</a:t>
            </a:r>
            <a:endParaRPr lang="en-US" sz="750" dirty="0"/>
          </a:p>
        </p:txBody>
      </p:sp>
      <p:pic>
        <p:nvPicPr>
          <p:cNvPr id="24" name="Image 3" descr="preencoded.png">    </p:cNvPr>
          <p:cNvPicPr>
            <a:picLocks noChangeAspect="1"/>
          </p:cNvPicPr>
          <p:nvPr/>
        </p:nvPicPr>
        <p:blipFill>
          <a:blip r:embed="rId4"/>
          <a:stretch>
            <a:fillRect/>
          </a:stretch>
        </p:blipFill>
        <p:spPr>
          <a:xfrm>
            <a:off x="7443668" y="1498402"/>
            <a:ext cx="3465671" cy="3465671"/>
          </a:xfrm>
          <a:prstGeom prst="rect">
            <a:avLst/>
          </a:prstGeom>
        </p:spPr>
      </p:pic>
      <p:sp>
        <p:nvSpPr>
          <p:cNvPr id="25" name="Text 19"/>
          <p:cNvSpPr/>
          <p:nvPr/>
        </p:nvSpPr>
        <p:spPr>
          <a:xfrm>
            <a:off x="7443668" y="5075634"/>
            <a:ext cx="2126933" cy="185976"/>
          </a:xfrm>
          <a:prstGeom prst="rect">
            <a:avLst/>
          </a:prstGeom>
          <a:noFill/>
          <a:ln/>
        </p:spPr>
        <p:txBody>
          <a:bodyPr wrap="none" lIns="0" tIns="0" rIns="0" bIns="0" rtlCol="0" anchor="t"/>
          <a:lstStyle/>
          <a:p>
            <a:pPr algn="l" indent="0" marL="0">
              <a:lnSpc>
                <a:spcPts val="1450"/>
              </a:lnSpc>
              <a:buNone/>
            </a:pPr>
            <a:r>
              <a:rPr lang="en-US" sz="1150" dirty="0">
                <a:solidFill>
                  <a:srgbClr val="FFFFFF"/>
                </a:solidFill>
                <a:latin typeface="Fraunces Medium" pitchFamily="34" charset="0"/>
                <a:ea typeface="Fraunces Medium" pitchFamily="34" charset="-122"/>
                <a:cs typeface="Fraunces Medium" pitchFamily="34" charset="-120"/>
              </a:rPr>
              <a:t>Cost &amp; Resource Optimization</a:t>
            </a:r>
            <a:endParaRPr lang="en-US" sz="1150" dirty="0"/>
          </a:p>
        </p:txBody>
      </p:sp>
      <p:sp>
        <p:nvSpPr>
          <p:cNvPr id="26" name="Shape 20"/>
          <p:cNvSpPr/>
          <p:nvPr/>
        </p:nvSpPr>
        <p:spPr>
          <a:xfrm>
            <a:off x="7443668" y="5373172"/>
            <a:ext cx="3465671" cy="1186815"/>
          </a:xfrm>
          <a:prstGeom prst="roundRect">
            <a:avLst>
              <a:gd name="adj" fmla="val 3512"/>
            </a:avLst>
          </a:prstGeom>
          <a:noFill/>
          <a:ln w="7620">
            <a:solidFill>
              <a:srgbClr val="FFFFFF">
                <a:alpha val="24000"/>
              </a:srgbClr>
            </a:solidFill>
            <a:prstDash val="solid"/>
          </a:ln>
        </p:spPr>
      </p:sp>
      <p:sp>
        <p:nvSpPr>
          <p:cNvPr id="27" name="Shape 21"/>
          <p:cNvSpPr/>
          <p:nvPr/>
        </p:nvSpPr>
        <p:spPr>
          <a:xfrm>
            <a:off x="7451288" y="5380792"/>
            <a:ext cx="3450431" cy="292894"/>
          </a:xfrm>
          <a:prstGeom prst="rect">
            <a:avLst/>
          </a:prstGeom>
          <a:solidFill>
            <a:srgbClr val="FFFFFF">
              <a:alpha val="4000"/>
            </a:srgbClr>
          </a:solidFill>
          <a:ln/>
        </p:spPr>
      </p:sp>
      <p:sp>
        <p:nvSpPr>
          <p:cNvPr id="28" name="Text 22"/>
          <p:cNvSpPr/>
          <p:nvPr/>
        </p:nvSpPr>
        <p:spPr>
          <a:xfrm>
            <a:off x="7550468" y="5447943"/>
            <a:ext cx="1523048"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AWS Operational Cost</a:t>
            </a:r>
            <a:endParaRPr lang="en-US" sz="750" dirty="0"/>
          </a:p>
        </p:txBody>
      </p:sp>
      <p:sp>
        <p:nvSpPr>
          <p:cNvPr id="29" name="Text 23"/>
          <p:cNvSpPr/>
          <p:nvPr/>
        </p:nvSpPr>
        <p:spPr>
          <a:xfrm>
            <a:off x="9279493" y="5447943"/>
            <a:ext cx="1523048"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$500-800/month</a:t>
            </a:r>
            <a:endParaRPr lang="en-US" sz="750" dirty="0"/>
          </a:p>
        </p:txBody>
      </p:sp>
      <p:sp>
        <p:nvSpPr>
          <p:cNvPr id="30" name="Shape 24"/>
          <p:cNvSpPr/>
          <p:nvPr/>
        </p:nvSpPr>
        <p:spPr>
          <a:xfrm>
            <a:off x="7451288" y="5673685"/>
            <a:ext cx="3450431" cy="292894"/>
          </a:xfrm>
          <a:prstGeom prst="rect">
            <a:avLst/>
          </a:prstGeom>
          <a:solidFill>
            <a:srgbClr val="000000">
              <a:alpha val="4000"/>
            </a:srgbClr>
          </a:solidFill>
          <a:ln/>
        </p:spPr>
      </p:sp>
      <p:sp>
        <p:nvSpPr>
          <p:cNvPr id="31" name="Text 25"/>
          <p:cNvSpPr/>
          <p:nvPr/>
        </p:nvSpPr>
        <p:spPr>
          <a:xfrm>
            <a:off x="7550468" y="5740837"/>
            <a:ext cx="1523048"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S3 Storage (annual)</a:t>
            </a:r>
            <a:endParaRPr lang="en-US" sz="750" dirty="0"/>
          </a:p>
        </p:txBody>
      </p:sp>
      <p:sp>
        <p:nvSpPr>
          <p:cNvPr id="32" name="Text 26"/>
          <p:cNvSpPr/>
          <p:nvPr/>
        </p:nvSpPr>
        <p:spPr>
          <a:xfrm>
            <a:off x="9279493" y="5740837"/>
            <a:ext cx="1523048"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$1,200-1,800</a:t>
            </a:r>
            <a:endParaRPr lang="en-US" sz="750" dirty="0"/>
          </a:p>
        </p:txBody>
      </p:sp>
      <p:sp>
        <p:nvSpPr>
          <p:cNvPr id="33" name="Shape 27"/>
          <p:cNvSpPr/>
          <p:nvPr/>
        </p:nvSpPr>
        <p:spPr>
          <a:xfrm>
            <a:off x="7451288" y="5966579"/>
            <a:ext cx="3450431" cy="292894"/>
          </a:xfrm>
          <a:prstGeom prst="rect">
            <a:avLst/>
          </a:prstGeom>
          <a:solidFill>
            <a:srgbClr val="FFFFFF">
              <a:alpha val="4000"/>
            </a:srgbClr>
          </a:solidFill>
          <a:ln/>
        </p:spPr>
      </p:sp>
      <p:sp>
        <p:nvSpPr>
          <p:cNvPr id="34" name="Text 28"/>
          <p:cNvSpPr/>
          <p:nvPr/>
        </p:nvSpPr>
        <p:spPr>
          <a:xfrm>
            <a:off x="7550468" y="6033730"/>
            <a:ext cx="1523048"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Engineering Time Savings</a:t>
            </a:r>
            <a:endParaRPr lang="en-US" sz="750" dirty="0"/>
          </a:p>
        </p:txBody>
      </p:sp>
      <p:sp>
        <p:nvSpPr>
          <p:cNvPr id="35" name="Text 29"/>
          <p:cNvSpPr/>
          <p:nvPr/>
        </p:nvSpPr>
        <p:spPr>
          <a:xfrm>
            <a:off x="9279493" y="6033730"/>
            <a:ext cx="1523048"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15-20 hours/week</a:t>
            </a:r>
            <a:endParaRPr lang="en-US" sz="750" dirty="0"/>
          </a:p>
        </p:txBody>
      </p:sp>
      <p:sp>
        <p:nvSpPr>
          <p:cNvPr id="36" name="Shape 30"/>
          <p:cNvSpPr/>
          <p:nvPr/>
        </p:nvSpPr>
        <p:spPr>
          <a:xfrm>
            <a:off x="7451288" y="6259473"/>
            <a:ext cx="3450431" cy="292894"/>
          </a:xfrm>
          <a:prstGeom prst="rect">
            <a:avLst/>
          </a:prstGeom>
          <a:solidFill>
            <a:srgbClr val="000000">
              <a:alpha val="4000"/>
            </a:srgbClr>
          </a:solidFill>
          <a:ln/>
        </p:spPr>
      </p:sp>
      <p:sp>
        <p:nvSpPr>
          <p:cNvPr id="37" name="Text 31"/>
          <p:cNvSpPr/>
          <p:nvPr/>
        </p:nvSpPr>
        <p:spPr>
          <a:xfrm>
            <a:off x="7550468" y="6326624"/>
            <a:ext cx="1523048" cy="158591"/>
          </a:xfrm>
          <a:prstGeom prst="rect">
            <a:avLst/>
          </a:prstGeom>
          <a:noFill/>
          <a:ln/>
        </p:spPr>
        <p:txBody>
          <a:bodyPr wrap="none" lIns="0" tIns="0" rIns="0" bIns="0" rtlCol="0" anchor="t"/>
          <a:lstStyle/>
          <a:p>
            <a:pPr algn="l" indent="0" marL="0">
              <a:lnSpc>
                <a:spcPts val="1250"/>
              </a:lnSpc>
              <a:buNone/>
            </a:pPr>
            <a:r>
              <a:rPr lang="en-US" sz="750" b="1" dirty="0">
                <a:solidFill>
                  <a:srgbClr val="EBECEF"/>
                </a:solidFill>
                <a:latin typeface="Epilogue" pitchFamily="34" charset="0"/>
                <a:ea typeface="Epilogue" pitchFamily="34" charset="-122"/>
                <a:cs typeface="Epilogue" pitchFamily="34" charset="-120"/>
              </a:rPr>
              <a:t>ROI Timeline</a:t>
            </a:r>
            <a:endParaRPr lang="en-US" sz="750" dirty="0"/>
          </a:p>
        </p:txBody>
      </p:sp>
      <p:sp>
        <p:nvSpPr>
          <p:cNvPr id="38" name="Text 32"/>
          <p:cNvSpPr/>
          <p:nvPr/>
        </p:nvSpPr>
        <p:spPr>
          <a:xfrm>
            <a:off x="9279493" y="6326624"/>
            <a:ext cx="1523048" cy="158591"/>
          </a:xfrm>
          <a:prstGeom prst="rect">
            <a:avLst/>
          </a:prstGeom>
          <a:noFill/>
          <a:ln/>
        </p:spPr>
        <p:txBody>
          <a:bodyPr wrap="none" lIns="0" tIns="0" rIns="0" bIns="0" rtlCol="0" anchor="t"/>
          <a:lstStyle/>
          <a:p>
            <a:pPr algn="l" indent="0" marL="0">
              <a:lnSpc>
                <a:spcPts val="1250"/>
              </a:lnSpc>
              <a:buNone/>
            </a:pPr>
            <a:r>
              <a:rPr lang="en-US" sz="750" dirty="0">
                <a:solidFill>
                  <a:srgbClr val="EBECEF"/>
                </a:solidFill>
                <a:latin typeface="Epilogue" pitchFamily="34" charset="0"/>
                <a:ea typeface="Epilogue" pitchFamily="34" charset="-122"/>
                <a:cs typeface="Epilogue" pitchFamily="34" charset="-120"/>
              </a:rPr>
              <a:t>6-9 months</a:t>
            </a:r>
            <a:endParaRPr lang="en-US" sz="750" dirty="0"/>
          </a:p>
        </p:txBody>
      </p:sp>
      <p:sp>
        <p:nvSpPr>
          <p:cNvPr id="39" name="Shape 33"/>
          <p:cNvSpPr/>
          <p:nvPr/>
        </p:nvSpPr>
        <p:spPr>
          <a:xfrm>
            <a:off x="7443668" y="6671548"/>
            <a:ext cx="3465671" cy="897136"/>
          </a:xfrm>
          <a:prstGeom prst="roundRect">
            <a:avLst>
              <a:gd name="adj" fmla="val 4646"/>
            </a:avLst>
          </a:prstGeom>
          <a:solidFill>
            <a:srgbClr val="181E34"/>
          </a:solidFill>
          <a:ln/>
        </p:spPr>
      </p:sp>
      <p:pic>
        <p:nvPicPr>
          <p:cNvPr id="40" name="Image 4" descr="preencoded.png">    </p:cNvPr>
          <p:cNvPicPr>
            <a:picLocks noChangeAspect="1"/>
          </p:cNvPicPr>
          <p:nvPr/>
        </p:nvPicPr>
        <p:blipFill>
          <a:blip r:embed="rId5"/>
          <a:stretch>
            <a:fillRect/>
          </a:stretch>
        </p:blipFill>
        <p:spPr>
          <a:xfrm>
            <a:off x="7542848" y="6807756"/>
            <a:ext cx="123944" cy="99179"/>
          </a:xfrm>
          <a:prstGeom prst="rect">
            <a:avLst/>
          </a:prstGeom>
        </p:spPr>
      </p:pic>
      <p:sp>
        <p:nvSpPr>
          <p:cNvPr id="41" name="Text 34"/>
          <p:cNvSpPr/>
          <p:nvPr/>
        </p:nvSpPr>
        <p:spPr>
          <a:xfrm>
            <a:off x="7765971" y="6795492"/>
            <a:ext cx="3044190" cy="634365"/>
          </a:xfrm>
          <a:prstGeom prst="rect">
            <a:avLst/>
          </a:prstGeom>
          <a:noFill/>
          <a:ln/>
        </p:spPr>
        <p:txBody>
          <a:bodyPr wrap="square" lIns="0" tIns="0" rIns="0" bIns="0" rtlCol="0" anchor="t"/>
          <a:lstStyle/>
          <a:p>
            <a:pPr algn="l" indent="0" marL="0">
              <a:lnSpc>
                <a:spcPts val="1250"/>
              </a:lnSpc>
              <a:buNone/>
            </a:pPr>
            <a:r>
              <a:rPr lang="en-US" sz="750" b="1" dirty="0">
                <a:solidFill>
                  <a:srgbClr val="FFFFFF"/>
                </a:solidFill>
                <a:latin typeface="Epilogue" pitchFamily="34" charset="0"/>
                <a:ea typeface="Epilogue" pitchFamily="34" charset="-122"/>
                <a:cs typeface="Epilogue" pitchFamily="34" charset="-120"/>
              </a:rPr>
              <a:t>Cost-Benefit Analysis:</a:t>
            </a:r>
            <a:pPr algn="l" indent="0" marL="0">
              <a:lnSpc>
                <a:spcPts val="1250"/>
              </a:lnSpc>
              <a:buNone/>
            </a:pPr>
            <a:r>
              <a:rPr lang="en-US" sz="750" dirty="0">
                <a:solidFill>
                  <a:srgbClr val="FFFFFF"/>
                </a:solidFill>
                <a:latin typeface="Epilogue" pitchFamily="34" charset="0"/>
                <a:ea typeface="Epilogue" pitchFamily="34" charset="-122"/>
                <a:cs typeface="Epilogue" pitchFamily="34" charset="-120"/>
              </a:rPr>
              <a:t> At average SRE loaded cost of $85/hour, 15 hours/week savings ($66,300/year) vastly exceeds infrastructure costs ($16,800/year), yielding a 294% ROI in year one.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3460790" y="307181"/>
            <a:ext cx="637223" cy="200382"/>
          </a:xfrm>
          <a:prstGeom prst="roundRect">
            <a:avLst>
              <a:gd name="adj" fmla="val 17882"/>
            </a:avLst>
          </a:prstGeom>
          <a:solidFill>
            <a:srgbClr val="181E34"/>
          </a:solidFill>
          <a:ln/>
        </p:spPr>
      </p:sp>
      <p:sp>
        <p:nvSpPr>
          <p:cNvPr id="3" name="Text 1"/>
          <p:cNvSpPr/>
          <p:nvPr/>
        </p:nvSpPr>
        <p:spPr>
          <a:xfrm>
            <a:off x="3524726" y="339090"/>
            <a:ext cx="509349" cy="136565"/>
          </a:xfrm>
          <a:prstGeom prst="rect">
            <a:avLst/>
          </a:prstGeom>
          <a:noFill/>
          <a:ln/>
        </p:spPr>
        <p:txBody>
          <a:bodyPr wrap="none" lIns="0" tIns="0" rIns="0" bIns="0" rtlCol="0" anchor="t"/>
          <a:lstStyle/>
          <a:p>
            <a:pPr algn="l" indent="0" marL="0">
              <a:lnSpc>
                <a:spcPts val="1050"/>
              </a:lnSpc>
              <a:buNone/>
            </a:pPr>
            <a:r>
              <a:rPr lang="en-US" sz="650" dirty="0">
                <a:solidFill>
                  <a:srgbClr val="EBECEF"/>
                </a:solidFill>
                <a:latin typeface="Epilogue" pitchFamily="34" charset="0"/>
                <a:ea typeface="Epilogue" pitchFamily="34" charset="-122"/>
                <a:cs typeface="Epilogue" pitchFamily="34" charset="-120"/>
              </a:rPr>
              <a:t>CONCLUSION</a:t>
            </a:r>
            <a:endParaRPr lang="en-US" sz="650" dirty="0"/>
          </a:p>
        </p:txBody>
      </p:sp>
      <p:sp>
        <p:nvSpPr>
          <p:cNvPr id="4" name="Text 2"/>
          <p:cNvSpPr/>
          <p:nvPr/>
        </p:nvSpPr>
        <p:spPr>
          <a:xfrm>
            <a:off x="3460790" y="550188"/>
            <a:ext cx="4049197" cy="333137"/>
          </a:xfrm>
          <a:prstGeom prst="rect">
            <a:avLst/>
          </a:prstGeom>
          <a:noFill/>
          <a:ln/>
        </p:spPr>
        <p:txBody>
          <a:bodyPr wrap="none" lIns="0" tIns="0" rIns="0" bIns="0" rtlCol="0" anchor="t"/>
          <a:lstStyle/>
          <a:p>
            <a:pPr algn="l" indent="0" marL="0">
              <a:lnSpc>
                <a:spcPts val="2600"/>
              </a:lnSpc>
              <a:buNone/>
            </a:pPr>
            <a:r>
              <a:rPr lang="en-US" sz="2050" dirty="0">
                <a:solidFill>
                  <a:srgbClr val="FFFFFF"/>
                </a:solidFill>
                <a:latin typeface="Fraunces Medium" pitchFamily="34" charset="0"/>
                <a:ea typeface="Fraunces Medium" pitchFamily="34" charset="-122"/>
                <a:cs typeface="Fraunces Medium" pitchFamily="34" charset="-120"/>
              </a:rPr>
              <a:t>Next Steps &amp; Recommendations</a:t>
            </a:r>
            <a:endParaRPr lang="en-US" sz="2050" dirty="0"/>
          </a:p>
        </p:txBody>
      </p:sp>
      <p:sp>
        <p:nvSpPr>
          <p:cNvPr id="5" name="Text 3"/>
          <p:cNvSpPr/>
          <p:nvPr/>
        </p:nvSpPr>
        <p:spPr>
          <a:xfrm>
            <a:off x="3460790" y="1149787"/>
            <a:ext cx="1599605" cy="200025"/>
          </a:xfrm>
          <a:prstGeom prst="rect">
            <a:avLst/>
          </a:prstGeom>
          <a:noFill/>
          <a:ln/>
        </p:spPr>
        <p:txBody>
          <a:bodyPr wrap="none" lIns="0" tIns="0" rIns="0" bIns="0" rtlCol="0" anchor="t"/>
          <a:lstStyle/>
          <a:p>
            <a:pPr algn="l" indent="0" marL="0">
              <a:lnSpc>
                <a:spcPts val="1550"/>
              </a:lnSpc>
              <a:buNone/>
            </a:pPr>
            <a:r>
              <a:rPr lang="en-US" sz="1250" dirty="0">
                <a:solidFill>
                  <a:srgbClr val="FFFFFF"/>
                </a:solidFill>
                <a:latin typeface="Fraunces Medium" pitchFamily="34" charset="0"/>
                <a:ea typeface="Fraunces Medium" pitchFamily="34" charset="-122"/>
                <a:cs typeface="Fraunces Medium" pitchFamily="34" charset="-120"/>
              </a:rPr>
              <a:t>Immediate Actions</a:t>
            </a:r>
            <a:endParaRPr lang="en-US" sz="1250" dirty="0"/>
          </a:p>
        </p:txBody>
      </p:sp>
      <p:sp>
        <p:nvSpPr>
          <p:cNvPr id="6" name="Shape 4"/>
          <p:cNvSpPr/>
          <p:nvPr/>
        </p:nvSpPr>
        <p:spPr>
          <a:xfrm>
            <a:off x="3460790" y="1469708"/>
            <a:ext cx="239911" cy="239911"/>
          </a:xfrm>
          <a:prstGeom prst="roundRect">
            <a:avLst>
              <a:gd name="adj" fmla="val 18669"/>
            </a:avLst>
          </a:prstGeom>
          <a:solidFill>
            <a:srgbClr val="283157"/>
          </a:solidFill>
          <a:ln w="7620">
            <a:solidFill>
              <a:srgbClr val="414A70"/>
            </a:solidFill>
            <a:prstDash val="solid"/>
          </a:ln>
        </p:spPr>
      </p:sp>
      <p:sp>
        <p:nvSpPr>
          <p:cNvPr id="7" name="Text 5"/>
          <p:cNvSpPr/>
          <p:nvPr/>
        </p:nvSpPr>
        <p:spPr>
          <a:xfrm>
            <a:off x="3500735" y="1489650"/>
            <a:ext cx="159901" cy="199906"/>
          </a:xfrm>
          <a:prstGeom prst="rect">
            <a:avLst/>
          </a:prstGeom>
          <a:noFill/>
          <a:ln/>
        </p:spPr>
        <p:txBody>
          <a:bodyPr wrap="none" lIns="0" tIns="0" rIns="0" bIns="0" rtlCol="0" anchor="t"/>
          <a:lstStyle/>
          <a:p>
            <a:pPr algn="ctr" indent="0" marL="0">
              <a:lnSpc>
                <a:spcPts val="1250"/>
              </a:lnSpc>
              <a:buNone/>
            </a:pPr>
            <a:r>
              <a:rPr lang="en-US" sz="1250" dirty="0">
                <a:solidFill>
                  <a:srgbClr val="EBECEF"/>
                </a:solidFill>
                <a:latin typeface="Fraunces Medium" pitchFamily="34" charset="0"/>
                <a:ea typeface="Fraunces Medium" pitchFamily="34" charset="-122"/>
                <a:cs typeface="Fraunces Medium" pitchFamily="34" charset="-120"/>
              </a:rPr>
              <a:t>1</a:t>
            </a:r>
            <a:endParaRPr lang="en-US" sz="1250" dirty="0"/>
          </a:p>
        </p:txBody>
      </p:sp>
      <p:sp>
        <p:nvSpPr>
          <p:cNvPr id="8" name="Text 6"/>
          <p:cNvSpPr/>
          <p:nvPr/>
        </p:nvSpPr>
        <p:spPr>
          <a:xfrm>
            <a:off x="3807262" y="1506260"/>
            <a:ext cx="1905714" cy="166688"/>
          </a:xfrm>
          <a:prstGeom prst="rect">
            <a:avLst/>
          </a:prstGeom>
          <a:noFill/>
          <a:ln/>
        </p:spPr>
        <p:txBody>
          <a:bodyPr wrap="none" lIns="0" tIns="0" rIns="0" bIns="0" rtlCol="0" anchor="t"/>
          <a:lstStyle/>
          <a:p>
            <a:pPr algn="l" indent="0" marL="0">
              <a:lnSpc>
                <a:spcPts val="1300"/>
              </a:lnSpc>
              <a:buNone/>
            </a:pPr>
            <a:r>
              <a:rPr lang="en-US" sz="1000" dirty="0">
                <a:solidFill>
                  <a:srgbClr val="EBECEF"/>
                </a:solidFill>
                <a:latin typeface="Fraunces Medium" pitchFamily="34" charset="0"/>
                <a:ea typeface="Fraunces Medium" pitchFamily="34" charset="-122"/>
                <a:cs typeface="Fraunces Medium" pitchFamily="34" charset="-120"/>
              </a:rPr>
              <a:t>Secure Executive Sponsorship</a:t>
            </a:r>
            <a:endParaRPr lang="en-US" sz="1000" dirty="0"/>
          </a:p>
        </p:txBody>
      </p:sp>
      <p:sp>
        <p:nvSpPr>
          <p:cNvPr id="9" name="Text 7"/>
          <p:cNvSpPr/>
          <p:nvPr/>
        </p:nvSpPr>
        <p:spPr>
          <a:xfrm>
            <a:off x="3807262" y="1779508"/>
            <a:ext cx="3776186" cy="682466"/>
          </a:xfrm>
          <a:prstGeom prst="rect">
            <a:avLst/>
          </a:prstGeom>
          <a:noFill/>
          <a:ln/>
        </p:spPr>
        <p:txBody>
          <a:bodyPr wrap="square" lIns="0" tIns="0" rIns="0" bIns="0" rtlCol="0" anchor="t"/>
          <a:lstStyle/>
          <a:p>
            <a:pPr algn="l" indent="0" marL="0">
              <a:lnSpc>
                <a:spcPts val="1300"/>
              </a:lnSpc>
              <a:buNone/>
            </a:pPr>
            <a:r>
              <a:rPr lang="en-US" sz="800" dirty="0">
                <a:solidFill>
                  <a:srgbClr val="EBECEF"/>
                </a:solidFill>
                <a:latin typeface="Epilogue" pitchFamily="34" charset="0"/>
                <a:ea typeface="Epilogue" pitchFamily="34" charset="-122"/>
                <a:cs typeface="Epilogue" pitchFamily="34" charset="-120"/>
              </a:rPr>
              <a:t>Present business case to IT leadership emphasizing MTTR reduction, engineer productivity gains, and regulatory compliance improvements. Obtain budget approval for AWS infrastructure and dedicated engineering resources.</a:t>
            </a:r>
            <a:endParaRPr lang="en-US" sz="800" dirty="0"/>
          </a:p>
        </p:txBody>
      </p:sp>
      <p:sp>
        <p:nvSpPr>
          <p:cNvPr id="10" name="Shape 8"/>
          <p:cNvSpPr/>
          <p:nvPr/>
        </p:nvSpPr>
        <p:spPr>
          <a:xfrm>
            <a:off x="3460790" y="2675215"/>
            <a:ext cx="239911" cy="239911"/>
          </a:xfrm>
          <a:prstGeom prst="roundRect">
            <a:avLst>
              <a:gd name="adj" fmla="val 18669"/>
            </a:avLst>
          </a:prstGeom>
          <a:solidFill>
            <a:srgbClr val="283157"/>
          </a:solidFill>
          <a:ln w="7620">
            <a:solidFill>
              <a:srgbClr val="414A70"/>
            </a:solidFill>
            <a:prstDash val="solid"/>
          </a:ln>
        </p:spPr>
      </p:sp>
      <p:sp>
        <p:nvSpPr>
          <p:cNvPr id="11" name="Text 9"/>
          <p:cNvSpPr/>
          <p:nvPr/>
        </p:nvSpPr>
        <p:spPr>
          <a:xfrm>
            <a:off x="3500735" y="2695158"/>
            <a:ext cx="159901" cy="199906"/>
          </a:xfrm>
          <a:prstGeom prst="rect">
            <a:avLst/>
          </a:prstGeom>
          <a:noFill/>
          <a:ln/>
        </p:spPr>
        <p:txBody>
          <a:bodyPr wrap="none" lIns="0" tIns="0" rIns="0" bIns="0" rtlCol="0" anchor="t"/>
          <a:lstStyle/>
          <a:p>
            <a:pPr algn="ctr" indent="0" marL="0">
              <a:lnSpc>
                <a:spcPts val="1250"/>
              </a:lnSpc>
              <a:buNone/>
            </a:pPr>
            <a:r>
              <a:rPr lang="en-US" sz="1250" dirty="0">
                <a:solidFill>
                  <a:srgbClr val="EBECEF"/>
                </a:solidFill>
                <a:latin typeface="Fraunces Medium" pitchFamily="34" charset="0"/>
                <a:ea typeface="Fraunces Medium" pitchFamily="34" charset="-122"/>
                <a:cs typeface="Fraunces Medium" pitchFamily="34" charset="-120"/>
              </a:rPr>
              <a:t>2</a:t>
            </a:r>
            <a:endParaRPr lang="en-US" sz="1250" dirty="0"/>
          </a:p>
        </p:txBody>
      </p:sp>
      <p:sp>
        <p:nvSpPr>
          <p:cNvPr id="12" name="Text 10"/>
          <p:cNvSpPr/>
          <p:nvPr/>
        </p:nvSpPr>
        <p:spPr>
          <a:xfrm>
            <a:off x="3807262" y="2711768"/>
            <a:ext cx="2124075" cy="166688"/>
          </a:xfrm>
          <a:prstGeom prst="rect">
            <a:avLst/>
          </a:prstGeom>
          <a:noFill/>
          <a:ln/>
        </p:spPr>
        <p:txBody>
          <a:bodyPr wrap="none" lIns="0" tIns="0" rIns="0" bIns="0" rtlCol="0" anchor="t"/>
          <a:lstStyle/>
          <a:p>
            <a:pPr algn="l" indent="0" marL="0">
              <a:lnSpc>
                <a:spcPts val="1300"/>
              </a:lnSpc>
              <a:buNone/>
            </a:pPr>
            <a:r>
              <a:rPr lang="en-US" sz="1000" dirty="0">
                <a:solidFill>
                  <a:srgbClr val="EBECEF"/>
                </a:solidFill>
                <a:latin typeface="Fraunces Medium" pitchFamily="34" charset="0"/>
                <a:ea typeface="Fraunces Medium" pitchFamily="34" charset="-122"/>
                <a:cs typeface="Fraunces Medium" pitchFamily="34" charset="-120"/>
              </a:rPr>
              <a:t>Assemble Cross-Functional Team</a:t>
            </a:r>
            <a:endParaRPr lang="en-US" sz="1000" dirty="0"/>
          </a:p>
        </p:txBody>
      </p:sp>
      <p:sp>
        <p:nvSpPr>
          <p:cNvPr id="13" name="Text 11"/>
          <p:cNvSpPr/>
          <p:nvPr/>
        </p:nvSpPr>
        <p:spPr>
          <a:xfrm>
            <a:off x="3807262" y="2985016"/>
            <a:ext cx="3776186" cy="511850"/>
          </a:xfrm>
          <a:prstGeom prst="rect">
            <a:avLst/>
          </a:prstGeom>
          <a:noFill/>
          <a:ln/>
        </p:spPr>
        <p:txBody>
          <a:bodyPr wrap="square" lIns="0" tIns="0" rIns="0" bIns="0" rtlCol="0" anchor="t"/>
          <a:lstStyle/>
          <a:p>
            <a:pPr algn="l" indent="0" marL="0">
              <a:lnSpc>
                <a:spcPts val="1300"/>
              </a:lnSpc>
              <a:buNone/>
            </a:pPr>
            <a:r>
              <a:rPr lang="en-US" sz="800" dirty="0">
                <a:solidFill>
                  <a:srgbClr val="EBECEF"/>
                </a:solidFill>
                <a:latin typeface="Epilogue" pitchFamily="34" charset="0"/>
                <a:ea typeface="Epilogue" pitchFamily="34" charset="-122"/>
                <a:cs typeface="Epilogue" pitchFamily="34" charset="-120"/>
              </a:rPr>
              <a:t>Allocate 2 AS/400 specialists, 1 Java developer with OTel experience, 1 SRE for observability backend, 1 network engineer for connectivity. Establish weekly standup and shared Slack channel.</a:t>
            </a:r>
            <a:endParaRPr lang="en-US" sz="800" dirty="0"/>
          </a:p>
        </p:txBody>
      </p:sp>
      <p:sp>
        <p:nvSpPr>
          <p:cNvPr id="14" name="Shape 12"/>
          <p:cNvSpPr/>
          <p:nvPr/>
        </p:nvSpPr>
        <p:spPr>
          <a:xfrm>
            <a:off x="3460790" y="3710107"/>
            <a:ext cx="239911" cy="239911"/>
          </a:xfrm>
          <a:prstGeom prst="roundRect">
            <a:avLst>
              <a:gd name="adj" fmla="val 18669"/>
            </a:avLst>
          </a:prstGeom>
          <a:solidFill>
            <a:srgbClr val="283157"/>
          </a:solidFill>
          <a:ln w="7620">
            <a:solidFill>
              <a:srgbClr val="414A70"/>
            </a:solidFill>
            <a:prstDash val="solid"/>
          </a:ln>
        </p:spPr>
      </p:sp>
      <p:sp>
        <p:nvSpPr>
          <p:cNvPr id="15" name="Text 13"/>
          <p:cNvSpPr/>
          <p:nvPr/>
        </p:nvSpPr>
        <p:spPr>
          <a:xfrm>
            <a:off x="3500735" y="3730050"/>
            <a:ext cx="159901" cy="199906"/>
          </a:xfrm>
          <a:prstGeom prst="rect">
            <a:avLst/>
          </a:prstGeom>
          <a:noFill/>
          <a:ln/>
        </p:spPr>
        <p:txBody>
          <a:bodyPr wrap="none" lIns="0" tIns="0" rIns="0" bIns="0" rtlCol="0" anchor="t"/>
          <a:lstStyle/>
          <a:p>
            <a:pPr algn="ctr" indent="0" marL="0">
              <a:lnSpc>
                <a:spcPts val="1250"/>
              </a:lnSpc>
              <a:buNone/>
            </a:pPr>
            <a:r>
              <a:rPr lang="en-US" sz="1250" dirty="0">
                <a:solidFill>
                  <a:srgbClr val="EBECEF"/>
                </a:solidFill>
                <a:latin typeface="Fraunces Medium" pitchFamily="34" charset="0"/>
                <a:ea typeface="Fraunces Medium" pitchFamily="34" charset="-122"/>
                <a:cs typeface="Fraunces Medium" pitchFamily="34" charset="-120"/>
              </a:rPr>
              <a:t>3</a:t>
            </a:r>
            <a:endParaRPr lang="en-US" sz="1250" dirty="0"/>
          </a:p>
        </p:txBody>
      </p:sp>
      <p:sp>
        <p:nvSpPr>
          <p:cNvPr id="16" name="Text 14"/>
          <p:cNvSpPr/>
          <p:nvPr/>
        </p:nvSpPr>
        <p:spPr>
          <a:xfrm>
            <a:off x="3807262" y="3746659"/>
            <a:ext cx="1538168" cy="166688"/>
          </a:xfrm>
          <a:prstGeom prst="rect">
            <a:avLst/>
          </a:prstGeom>
          <a:noFill/>
          <a:ln/>
        </p:spPr>
        <p:txBody>
          <a:bodyPr wrap="none" lIns="0" tIns="0" rIns="0" bIns="0" rtlCol="0" anchor="t"/>
          <a:lstStyle/>
          <a:p>
            <a:pPr algn="l" indent="0" marL="0">
              <a:lnSpc>
                <a:spcPts val="1300"/>
              </a:lnSpc>
              <a:buNone/>
            </a:pPr>
            <a:r>
              <a:rPr lang="en-US" sz="1000" dirty="0">
                <a:solidFill>
                  <a:srgbClr val="EBECEF"/>
                </a:solidFill>
                <a:latin typeface="Fraunces Medium" pitchFamily="34" charset="0"/>
                <a:ea typeface="Fraunces Medium" pitchFamily="34" charset="-122"/>
                <a:cs typeface="Fraunces Medium" pitchFamily="34" charset="-120"/>
              </a:rPr>
              <a:t>Initiate Discovery Phase</a:t>
            </a:r>
            <a:endParaRPr lang="en-US" sz="1000" dirty="0"/>
          </a:p>
        </p:txBody>
      </p:sp>
      <p:sp>
        <p:nvSpPr>
          <p:cNvPr id="17" name="Text 15"/>
          <p:cNvSpPr/>
          <p:nvPr/>
        </p:nvSpPr>
        <p:spPr>
          <a:xfrm>
            <a:off x="3807262" y="4019907"/>
            <a:ext cx="3776186" cy="511850"/>
          </a:xfrm>
          <a:prstGeom prst="rect">
            <a:avLst/>
          </a:prstGeom>
          <a:noFill/>
          <a:ln/>
        </p:spPr>
        <p:txBody>
          <a:bodyPr wrap="square" lIns="0" tIns="0" rIns="0" bIns="0" rtlCol="0" anchor="t"/>
          <a:lstStyle/>
          <a:p>
            <a:pPr algn="l" indent="0" marL="0">
              <a:lnSpc>
                <a:spcPts val="1300"/>
              </a:lnSpc>
              <a:buNone/>
            </a:pPr>
            <a:r>
              <a:rPr lang="en-US" sz="800" dirty="0">
                <a:solidFill>
                  <a:srgbClr val="EBECEF"/>
                </a:solidFill>
                <a:latin typeface="Epilogue" pitchFamily="34" charset="0"/>
                <a:ea typeface="Epilogue" pitchFamily="34" charset="-122"/>
                <a:cs typeface="Epilogue" pitchFamily="34" charset="-120"/>
              </a:rPr>
              <a:t>Schedule kickoff meeting to review technical design document, validate AS/400 system access, begin AWS account provisioning, and define detailed project timeline with milestone dependencies.</a:t>
            </a:r>
            <a:endParaRPr lang="en-US" sz="800" dirty="0"/>
          </a:p>
        </p:txBody>
      </p:sp>
      <p:pic>
        <p:nvPicPr>
          <p:cNvPr id="18" name="Image 0" descr="preencoded.png">    </p:cNvPr>
          <p:cNvPicPr>
            <a:picLocks noChangeAspect="1"/>
          </p:cNvPicPr>
          <p:nvPr/>
        </p:nvPicPr>
        <p:blipFill>
          <a:blip r:embed="rId1"/>
          <a:stretch>
            <a:fillRect/>
          </a:stretch>
        </p:blipFill>
        <p:spPr>
          <a:xfrm>
            <a:off x="7851100" y="1163122"/>
            <a:ext cx="3325892" cy="3325892"/>
          </a:xfrm>
          <a:prstGeom prst="rect">
            <a:avLst/>
          </a:prstGeom>
        </p:spPr>
      </p:pic>
      <p:sp>
        <p:nvSpPr>
          <p:cNvPr id="19" name="Text 16"/>
          <p:cNvSpPr/>
          <p:nvPr/>
        </p:nvSpPr>
        <p:spPr>
          <a:xfrm>
            <a:off x="7851100" y="4608909"/>
            <a:ext cx="1599605" cy="200025"/>
          </a:xfrm>
          <a:prstGeom prst="rect">
            <a:avLst/>
          </a:prstGeom>
          <a:noFill/>
          <a:ln/>
        </p:spPr>
        <p:txBody>
          <a:bodyPr wrap="none" lIns="0" tIns="0" rIns="0" bIns="0" rtlCol="0" anchor="t"/>
          <a:lstStyle/>
          <a:p>
            <a:pPr algn="l" indent="0" marL="0">
              <a:lnSpc>
                <a:spcPts val="1550"/>
              </a:lnSpc>
              <a:buNone/>
            </a:pPr>
            <a:r>
              <a:rPr lang="en-US" sz="1250" dirty="0">
                <a:solidFill>
                  <a:srgbClr val="FFFFFF"/>
                </a:solidFill>
                <a:latin typeface="Fraunces Medium" pitchFamily="34" charset="0"/>
                <a:ea typeface="Fraunces Medium" pitchFamily="34" charset="-122"/>
                <a:cs typeface="Fraunces Medium" pitchFamily="34" charset="-120"/>
              </a:rPr>
              <a:t>Long-Term Vision</a:t>
            </a:r>
            <a:endParaRPr lang="en-US" sz="1250" dirty="0"/>
          </a:p>
        </p:txBody>
      </p:sp>
      <p:sp>
        <p:nvSpPr>
          <p:cNvPr id="20" name="Text 17"/>
          <p:cNvSpPr/>
          <p:nvPr/>
        </p:nvSpPr>
        <p:spPr>
          <a:xfrm>
            <a:off x="7851100" y="4915495"/>
            <a:ext cx="3325892" cy="511850"/>
          </a:xfrm>
          <a:prstGeom prst="rect">
            <a:avLst/>
          </a:prstGeom>
          <a:noFill/>
          <a:ln/>
        </p:spPr>
        <p:txBody>
          <a:bodyPr wrap="square" lIns="0" tIns="0" rIns="0" bIns="0" rtlCol="0" anchor="t"/>
          <a:lstStyle/>
          <a:p>
            <a:pPr algn="l" indent="0" marL="0">
              <a:lnSpc>
                <a:spcPts val="1300"/>
              </a:lnSpc>
              <a:buNone/>
            </a:pPr>
            <a:r>
              <a:rPr lang="en-US" sz="800" dirty="0">
                <a:solidFill>
                  <a:srgbClr val="EBECEF"/>
                </a:solidFill>
                <a:latin typeface="Epilogue" pitchFamily="34" charset="0"/>
                <a:ea typeface="Epilogue" pitchFamily="34" charset="-122"/>
                <a:cs typeface="Epilogue" pitchFamily="34" charset="-120"/>
              </a:rPr>
              <a:t>This OpenTelemetry integration represents the foundation for a comprehensive observability strategy that spans legacy and modern infrastructure. Future enhancements may include:</a:t>
            </a:r>
            <a:endParaRPr lang="en-US" sz="800" dirty="0"/>
          </a:p>
        </p:txBody>
      </p:sp>
      <p:sp>
        <p:nvSpPr>
          <p:cNvPr id="21" name="Text 18"/>
          <p:cNvSpPr/>
          <p:nvPr/>
        </p:nvSpPr>
        <p:spPr>
          <a:xfrm>
            <a:off x="7851100" y="5523309"/>
            <a:ext cx="3325892" cy="170617"/>
          </a:xfrm>
          <a:prstGeom prst="rect">
            <a:avLst/>
          </a:prstGeom>
          <a:noFill/>
          <a:ln/>
        </p:spPr>
        <p:txBody>
          <a:bodyPr wrap="none" lIns="0" tIns="0" rIns="0" bIns="0" rtlCol="0" anchor="t"/>
          <a:lstStyle/>
          <a:p>
            <a:pPr algn="l" marL="342900" indent="-342900">
              <a:lnSpc>
                <a:spcPts val="1300"/>
              </a:lnSpc>
              <a:buSzPct val="100000"/>
              <a:buChar char="•"/>
            </a:pPr>
            <a:r>
              <a:rPr lang="en-US" sz="800" dirty="0">
                <a:solidFill>
                  <a:srgbClr val="EBECEF"/>
                </a:solidFill>
                <a:latin typeface="Epilogue" pitchFamily="34" charset="0"/>
                <a:ea typeface="Epilogue" pitchFamily="34" charset="-122"/>
                <a:cs typeface="Epilogue" pitchFamily="34" charset="-120"/>
              </a:rPr>
              <a:t>AS/400 → Kubernetes trace correlation for hybrid workflows</a:t>
            </a:r>
            <a:endParaRPr lang="en-US" sz="800" dirty="0"/>
          </a:p>
        </p:txBody>
      </p:sp>
      <p:sp>
        <p:nvSpPr>
          <p:cNvPr id="22" name="Text 19"/>
          <p:cNvSpPr/>
          <p:nvPr/>
        </p:nvSpPr>
        <p:spPr>
          <a:xfrm>
            <a:off x="7851100" y="5731193"/>
            <a:ext cx="3325892" cy="341233"/>
          </a:xfrm>
          <a:prstGeom prst="rect">
            <a:avLst/>
          </a:prstGeom>
          <a:noFill/>
          <a:ln/>
        </p:spPr>
        <p:txBody>
          <a:bodyPr wrap="square" lIns="0" tIns="0" rIns="0" bIns="0" rtlCol="0" anchor="t"/>
          <a:lstStyle/>
          <a:p>
            <a:pPr algn="l" marL="342900" indent="-342900">
              <a:lnSpc>
                <a:spcPts val="1300"/>
              </a:lnSpc>
              <a:buSzPct val="100000"/>
              <a:buChar char="•"/>
            </a:pPr>
            <a:r>
              <a:rPr lang="en-US" sz="800" dirty="0">
                <a:solidFill>
                  <a:srgbClr val="EBECEF"/>
                </a:solidFill>
                <a:latin typeface="Epilogue" pitchFamily="34" charset="0"/>
                <a:ea typeface="Epilogue" pitchFamily="34" charset="-122"/>
                <a:cs typeface="Epilogue" pitchFamily="34" charset="-120"/>
              </a:rPr>
              <a:t>Automated anomaly detection with machine learning on trace patterns</a:t>
            </a:r>
            <a:endParaRPr lang="en-US" sz="800" dirty="0"/>
          </a:p>
        </p:txBody>
      </p:sp>
      <p:sp>
        <p:nvSpPr>
          <p:cNvPr id="23" name="Text 20"/>
          <p:cNvSpPr/>
          <p:nvPr/>
        </p:nvSpPr>
        <p:spPr>
          <a:xfrm>
            <a:off x="7851100" y="6109692"/>
            <a:ext cx="3325892" cy="341233"/>
          </a:xfrm>
          <a:prstGeom prst="rect">
            <a:avLst/>
          </a:prstGeom>
          <a:noFill/>
          <a:ln/>
        </p:spPr>
        <p:txBody>
          <a:bodyPr wrap="square" lIns="0" tIns="0" rIns="0" bIns="0" rtlCol="0" anchor="t"/>
          <a:lstStyle/>
          <a:p>
            <a:pPr algn="l" marL="342900" indent="-342900">
              <a:lnSpc>
                <a:spcPts val="1300"/>
              </a:lnSpc>
              <a:buSzPct val="100000"/>
              <a:buChar char="•"/>
            </a:pPr>
            <a:r>
              <a:rPr lang="en-US" sz="800" dirty="0">
                <a:solidFill>
                  <a:srgbClr val="EBECEF"/>
                </a:solidFill>
                <a:latin typeface="Epilogue" pitchFamily="34" charset="0"/>
                <a:ea typeface="Epilogue" pitchFamily="34" charset="-122"/>
                <a:cs typeface="Epilogue" pitchFamily="34" charset="-120"/>
              </a:rPr>
              <a:t>Business transaction monitoring with SLA tracking and alerting</a:t>
            </a:r>
            <a:endParaRPr lang="en-US" sz="800" dirty="0"/>
          </a:p>
        </p:txBody>
      </p:sp>
      <p:sp>
        <p:nvSpPr>
          <p:cNvPr id="24" name="Text 21"/>
          <p:cNvSpPr/>
          <p:nvPr/>
        </p:nvSpPr>
        <p:spPr>
          <a:xfrm>
            <a:off x="7851100" y="6488192"/>
            <a:ext cx="3325892" cy="341233"/>
          </a:xfrm>
          <a:prstGeom prst="rect">
            <a:avLst/>
          </a:prstGeom>
          <a:noFill/>
          <a:ln/>
        </p:spPr>
        <p:txBody>
          <a:bodyPr wrap="square" lIns="0" tIns="0" rIns="0" bIns="0" rtlCol="0" anchor="t"/>
          <a:lstStyle/>
          <a:p>
            <a:pPr algn="l" marL="342900" indent="-342900">
              <a:lnSpc>
                <a:spcPts val="1300"/>
              </a:lnSpc>
              <a:buSzPct val="100000"/>
              <a:buChar char="•"/>
            </a:pPr>
            <a:r>
              <a:rPr lang="en-US" sz="800" dirty="0">
                <a:solidFill>
                  <a:srgbClr val="EBECEF"/>
                </a:solidFill>
                <a:latin typeface="Epilogue" pitchFamily="34" charset="0"/>
                <a:ea typeface="Epilogue" pitchFamily="34" charset="-122"/>
                <a:cs typeface="Epilogue" pitchFamily="34" charset="-120"/>
              </a:rPr>
              <a:t>Capacity planning insights from historical performance trends</a:t>
            </a:r>
            <a:endParaRPr lang="en-US" sz="800" dirty="0"/>
          </a:p>
        </p:txBody>
      </p:sp>
      <p:sp>
        <p:nvSpPr>
          <p:cNvPr id="25" name="Text 22"/>
          <p:cNvSpPr/>
          <p:nvPr/>
        </p:nvSpPr>
        <p:spPr>
          <a:xfrm>
            <a:off x="8011001" y="6949321"/>
            <a:ext cx="3165991" cy="853083"/>
          </a:xfrm>
          <a:prstGeom prst="rect">
            <a:avLst/>
          </a:prstGeom>
          <a:noFill/>
          <a:ln/>
        </p:spPr>
        <p:txBody>
          <a:bodyPr wrap="square" lIns="0" tIns="0" rIns="0" bIns="0" rtlCol="0" anchor="t"/>
          <a:lstStyle/>
          <a:p>
            <a:pPr algn="l" indent="0" marL="0">
              <a:lnSpc>
                <a:spcPts val="1300"/>
              </a:lnSpc>
              <a:buNone/>
            </a:pPr>
            <a:r>
              <a:rPr lang="en-US" sz="800" dirty="0">
                <a:solidFill>
                  <a:srgbClr val="EBECEF"/>
                </a:solidFill>
                <a:latin typeface="Epilogue" pitchFamily="34" charset="0"/>
                <a:ea typeface="Epilogue" pitchFamily="34" charset="-122"/>
                <a:cs typeface="Epilogue" pitchFamily="34" charset="-120"/>
              </a:rPr>
              <a:t>"By bridging AS/400 systems with OpenTelemetry, we're not just preserving legacy investments—we're unlocking decades of business logic for modern observability and extending the operational lifespan of critical enterprise infrastructure."</a:t>
            </a:r>
            <a:endParaRPr lang="en-US" sz="800" dirty="0"/>
          </a:p>
        </p:txBody>
      </p:sp>
      <p:sp>
        <p:nvSpPr>
          <p:cNvPr id="26" name="Shape 23"/>
          <p:cNvSpPr/>
          <p:nvPr/>
        </p:nvSpPr>
        <p:spPr>
          <a:xfrm>
            <a:off x="7851100" y="6949321"/>
            <a:ext cx="15240" cy="853083"/>
          </a:xfrm>
          <a:prstGeom prst="rect">
            <a:avLst/>
          </a:prstGeom>
          <a:solidFill>
            <a:srgbClr val="8C98C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2026-01-18T16:54:51Z</dcterms:created>
  <dcterms:modified xsi:type="dcterms:W3CDTF">2026-01-18T16:54:51Z</dcterms:modified>
</cp:coreProperties>
</file>